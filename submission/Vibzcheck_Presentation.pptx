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I'm Tanaka Makuvaza, and for Project 2 I built Vibzcheck - a Flutter and Firebase app where a host can start a listening session, friends join with a six-character code, and everyone votes on a shared queue in real time. I'll walk you through the build, the architecture, the bugs I had to chase, and the choices I'd defend in code.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demo on the two emulators. Don't read the bullets - just narrate. Key thing to call out: 'Notice nothing here is polled. That's a Firestore stream listener on the queue subcollection. The vote tap on Bob's device is a transaction so even if Alice voted at the same instant, neither one overwrites the other.'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five required Firebase services are live, plus Cloud Functions for the Spotify bridge so the Client Secret never ships in the APK. One declarative GoRouter handles all navigation including auth-aware redirects.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hardest features were the live queue with voting, the Spotify cloud function bridge, and the recommendations module. I built them in that order on purpose, because each one validated the substrate the next one assumed. Voting touched auth, Firestore, transactions, and security rules together - if any were broken every later feature would inherit the same break. The Spotify function came next because the queue could already accept tracks from a mock source, so swapping in a real Spotify-backed repository was a one-line provider change. Recommendations went last because they consume what the first two features produce.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SessionScreen used to do everything itself - queue, chat, suggestions, member roster - and it got too big to read in one screenful. I split it into three composable widgets. QueueTrackTile owns one row of the queue. SuggestionsCard owns the AI helper and is completely decoupled from the queue. ChatScreen is its own route so it can be backgrounded without losing state. The screen itself is now mostly TabBarView plumbing.</a:t>
            </a:r>
          </a:p>
          <a:p/>
          <a:p>
            <a:r>
              <a:t>For navigation I picked one declarative GoRouter with an auth-aware redirect. There's a small Listenable adapter that rebroadcasts FirebaseAuth.authStateChanges so signed-out users hitting any private route get bounced to sign-in, and signed-in users hitting auth screens get bounced home. Adding a new private route requires zero changes to the redirect.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top-level collections - users, sessions, joinCodes - and four subcollections under each session.</a:t>
            </a:r>
          </a:p>
          <a:p/>
          <a:p>
            <a:r>
              <a:t>I picked subcollections under sessions instead of parallel top-level collections because a single security rule on sessions/{id}/queue/{trackId} can call isSessionMember(id) *once* per request. If queue tracks lived in their own top-level collection, every doc would have to repeat the membership lookup. It also means Riverpod listener teardown is automatic when the user navigates out of the session screen.</a:t>
            </a:r>
          </a:p>
          <a:p/>
          <a:p>
            <a:r>
              <a:t>The interesting one is joinCodes. It's deliberately top-level and public-readable. I'll explain why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biggest piece of technical debt came from Phase 2. The original join-by-code flow was a single Firestore query - sessions where code equals ?. That query needed read access on the entire sessions collection for every signed-in user. The first time I tightened reads to 'members and owner only' - which the rubric specifically rewards - join-by-code broke end-to-end. A non-member literally couldn't see any session, so no query succeeded. That's the chicken-and-egg I document as Bug 2 in the bug log.</a:t>
            </a:r>
          </a:p>
          <a:p/>
          <a:p>
            <a:r>
              <a:t>I solved it with two changes. First, a separate joinCodes collection mapping code to sessionId - anyone signed-in can read it but it holds no sensitive data. Second, this rule. A non-member can update a session document only to add their own UID to memberIds and bump the denormalised counters. The affectedKeys.hasOnly whitelist is the safety net.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Array-contains plus an orderBy on a different field requires a composite index. The index lives in firestore.indexes.json so it's reproducible - no click-once console config in this repo.</a:t>
            </a:r>
          </a:p>
          <a:p/>
          <a:p>
            <a:r>
              <a:t>On read cost: the index is write-amplifying. Every session update writes one extra index entry per member. For a 10-member session that's 10 index entries per updatedAt bump. The 50-member cap I put on the join screen keeps every session well under Firestore's 40 KiB index document budget. Reads themselves stay the same single query cost - the index just makes the query legal.</a:t>
            </a:r>
          </a:p>
          <a:p/>
          <a:p>
            <a:r>
              <a:t>This index, plus a parallel one for the queue listener, was found the hard way: the home screen spun forever after the join-by-code rewrite. adb logcat showed FAILED_PRECONDITION.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user can read or write only their own profile document. An unauthenticated request has request.auth equals null, so isSignedIn is false and the request fails. A signed-in user trying to read someone else's profile fails the second check. Delete is hard-off - profile cleanup goes through a Cloud Function with the Admin SDK, which bypasses rules.</a:t>
            </a:r>
          </a:p>
          <a:p/>
          <a:p>
            <a:r>
              <a:t>I tested this two ways. The Firebase console Rules Playground blocks each forbidden case as expected. And in session_repository tests against a fake Firestore, the same shape of writes our rules expect is what passes - so a code-side regression that breaks the rule contract would also break the unit tests.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FCM has the most state of any feature, so I gave it its own service. When the user signs in I request permission, get the device token, and store it in an array on the user's profile. Array shape lets one user accumulate tokens across multiple devices.</a:t>
            </a:r>
          </a:p>
          <a:p/>
          <a:p>
            <a:r>
              <a:t>Delivery has three modes. Foreground gets a SnackBar via the active ScaffoldMessenger. Background and terminated state hit a top-level background handler registered BEFORE runApp in main.dart - it has to be top-level so the platform can spin up a fresh isolate. Sign-out removes the token from the user's array so a re-used device doesn't keep receiving the previous user's pushes.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subtle bug I shipped and caught: tapping upvote twice toggled the UI off but left voteScore equals 1 in Firestore. The naive implementation cleared a vote with votes[uid] = null. The in-memory fake Firestore I test with happily accepted that, but real Firestore preserves the null map entry, which broke the denormalised score recompute that ran in the same transaction. The fix is a dotted-path delete inside the same transaction. The 'upvoting twice toggles the vote off' test now pins this contract.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version of my Spotify repository rethrew every FirebaseFunctionsException, which meant a single Cloud Function hiccup emptied the Add Track screen. I redesigned the response so the repo narrows the rethrow set: only unauthenticated and failed-precondition come through, because those are real user errors a fallback would mask. Everything else falls through to a mock catalogue so the user always sees results.</a:t>
            </a:r>
          </a:p>
          <a:p/>
          <a:p>
            <a:r>
              <a:t>I also reworked the Add Track screen itself. Originally it auto-fired an empty search on mount, which wasted a function invocation every time someone opened the screen and backed out. The screen now starts in an explanatory empty state and only searches when the user types.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sign-in fails, attackers must not be able to figure out which half of the credential pair was wrong - that would let them enumerate which emails have accounts. So my error mapper deliberately collapses three different Firebase Auth codes - user-not-found, wrong-password, and invalid-credential - into one shared 'Email or password is incorrect.' line. Eleven tests in auth_error_messages_test.dart pin this exhaustively, so a future addition to the switch is forced to ship with a paired test.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home screen sessions list spun forever for both emulators after the join-by-code rewrite. I profiled it the same way I'd profile any production issue - adb logcat in a side terminal - and the smoking gun was right there: FAILED_PRECONDITION, query requires an index. Added the composite index to firestore.indexes.json, redeployed, and first emission dropped to sub-200 milliseconds. Near-identical bug recurred for the queue listener once Phase 3 added the played == false filter; same playbook resolved it.</a:t>
            </a:r>
          </a:p>
          <a:p/>
          <a:p>
            <a:r>
              <a:t>Takeaway: when a request leaves the device, the right first move is to inspect the server's logs, not the client's.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must-solve helper is a transparent rule-based recommender. It scores tracks by mood match against the queue's current mood, genre overlap against members' favourites, variety penalty if the same artist already dominates the queue, and a recency penalty if the track was played recently. Every recommendation is shipped with its full factor breakdown so the user can see exactly why it ranked where it did. There is no machine-learned model - that's intentional, because the rubric calls out responsible AI and explainability.</a:t>
            </a:r>
          </a:p>
          <a:p/>
          <a:p>
            <a:r>
              <a:t>The graduate fairness module is the second pass. It re-ranks the queue using member participation - quieter members get a small boost. Same explainability shape: every re-rank is shown with the factor it won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Sixty-two tests, all green: nine test files covering the recommender, the fairness ranker, the queue voting transaction, the session lifecycle, the Spotify repository fallback contract, the auth error mapping, the chat repo, the mood summary, and theme rendering.</a:t>
            </a:r>
          </a:p>
          <a:p/>
          <a:p>
            <a:r>
              <a:t>Everything the grader needs lives in submission. The bug log is the diary of the six hardest fixes. The curated questions Markdown is the answer key for the fourteen I selected. The release APK is signed and ready to sideload.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I restarted tomorrow on the same Flutter and Firebase substrate, two things would change.</a:t>
            </a:r>
          </a:p>
          <a:p/>
          <a:p>
            <a:r>
              <a:t>One, the Firebase emulator suite would be in the repo from day one. Security-rule changes today are caught at runtime; with the emulator suite they would be unit-tested.</a:t>
            </a:r>
          </a:p>
          <a:p/>
          <a:p>
            <a:r>
              <a:t>Two, every mutation would go through a Cloud Function with the Admin SDK rather than directly from the client to Firestore. That collapses the rule surface to 'client can read what it owns; only Functions can write.' The blast radius for any future schema mistake is much smaller, and the rule file itself becomes a handful of read-only allow lines.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Vibzcheck. Solo build, all five required Firebase services live, transparent AI helper, graduate-level fairness ranking, and a tested-end-to-end real-time collaborative queue. The repo is public, the APK is signed, and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B4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94560"/>
            <a:ext cx="10332720" cy="1463040"/>
          </a:xfrm>
          <a:prstGeom prst="rect">
            <a:avLst/>
          </a:prstGeom>
          <a:noFill/>
        </p:spPr>
        <p:txBody>
          <a:bodyPr wrap="square">
            <a:spAutoFit/>
          </a:bodyPr>
          <a:lstStyle/>
          <a:p>
            <a:pPr algn="l"/>
            <a:r>
              <a:rPr sz="7200" b="1">
                <a:solidFill>
                  <a:srgbClr val="1F2129"/>
                </a:solidFill>
                <a:latin typeface="Calibri"/>
              </a:rPr>
              <a:t>Vibzcheck</a:t>
            </a:r>
          </a:p>
        </p:txBody>
      </p:sp>
      <p:sp>
        <p:nvSpPr>
          <p:cNvPr id="5" name="TextBox 4"/>
          <p:cNvSpPr txBox="1"/>
          <p:nvPr/>
        </p:nvSpPr>
        <p:spPr>
          <a:xfrm>
            <a:off x="914400" y="3749039"/>
            <a:ext cx="10332720" cy="1828800"/>
          </a:xfrm>
          <a:prstGeom prst="rect">
            <a:avLst/>
          </a:prstGeom>
          <a:noFill/>
        </p:spPr>
        <p:txBody>
          <a:bodyPr wrap="square">
            <a:spAutoFit/>
          </a:bodyPr>
          <a:lstStyle/>
          <a:p>
            <a:pPr>
              <a:spcAft>
                <a:spcPts val="800"/>
              </a:spcAft>
            </a:pPr>
            <a:r>
              <a:rPr sz="2200">
                <a:solidFill>
                  <a:srgbClr val="6B4DE6"/>
                </a:solidFill>
                <a:latin typeface="Calibri"/>
              </a:rPr>
              <a:t>Collaborative real-time listening sessions on Flutter + Firebase</a:t>
            </a:r>
          </a:p>
          <a:p>
            <a:pPr>
              <a:spcAft>
                <a:spcPts val="800"/>
              </a:spcAft>
            </a:pPr>
            <a:r>
              <a:rPr sz="1600">
                <a:solidFill>
                  <a:srgbClr val="4A5260"/>
                </a:solidFill>
                <a:latin typeface="Calibri"/>
              </a:rPr>
              <a:t>Tanaka Makuvaza  -  CSC 6370  -  CRN 13598  -  Project 2  -  Solo (M.S.)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B4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338560" cy="822960"/>
          </a:xfrm>
          <a:prstGeom prst="rect">
            <a:avLst/>
          </a:prstGeom>
          <a:noFill/>
        </p:spPr>
        <p:txBody>
          <a:bodyPr wrap="square">
            <a:spAutoFit/>
          </a:bodyPr>
          <a:lstStyle/>
          <a:p>
            <a:r>
              <a:rPr sz="3400" b="1">
                <a:solidFill>
                  <a:srgbClr val="1F2129"/>
                </a:solidFill>
                <a:latin typeface="Calibri"/>
              </a:rPr>
              <a:t>Live demo: two phones, one shared playlist</a:t>
            </a:r>
          </a:p>
        </p:txBody>
      </p:sp>
      <p:sp>
        <p:nvSpPr>
          <p:cNvPr id="5" name="TextBox 4"/>
          <p:cNvSpPr txBox="1"/>
          <p:nvPr/>
        </p:nvSpPr>
        <p:spPr>
          <a:xfrm>
            <a:off x="502920" y="1143000"/>
            <a:ext cx="11338560" cy="365760"/>
          </a:xfrm>
          <a:prstGeom prst="rect">
            <a:avLst/>
          </a:prstGeom>
          <a:noFill/>
        </p:spPr>
        <p:txBody>
          <a:bodyPr wrap="square">
            <a:spAutoFit/>
          </a:bodyPr>
          <a:lstStyle/>
          <a:p>
            <a:r>
              <a:rPr sz="1400" b="0" i="1">
                <a:solidFill>
                  <a:srgbClr val="6B4DE6"/>
                </a:solidFill>
                <a:latin typeface="Calibri"/>
              </a:rPr>
              <a:t>Demo (Slide 2)</a:t>
            </a:r>
          </a:p>
        </p:txBody>
      </p:sp>
      <p:cxnSp>
        <p:nvCxnSpPr>
          <p:cNvPr id="6" name="Connector 5"/>
          <p:cNvCxnSpPr/>
          <p:nvPr/>
        </p:nvCxnSpPr>
        <p:spPr>
          <a:xfrm>
            <a:off x="502920" y="1527048"/>
            <a:ext cx="11183112"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pic>
        <p:nvPicPr>
          <p:cNvPr id="7" name="Picture 6" descr="30_session_with_queue.png"/>
          <p:cNvPicPr>
            <a:picLocks noChangeAspect="1"/>
          </p:cNvPicPr>
          <p:nvPr/>
        </p:nvPicPr>
        <p:blipFill>
          <a:blip r:embed="rId2"/>
          <a:stretch>
            <a:fillRect/>
          </a:stretch>
        </p:blipFill>
        <p:spPr>
          <a:xfrm>
            <a:off x="9696595" y="1691640"/>
            <a:ext cx="1989437" cy="4206240"/>
          </a:xfrm>
          <a:prstGeom prst="rect">
            <a:avLst/>
          </a:prstGeom>
        </p:spPr>
      </p:pic>
      <p:pic>
        <p:nvPicPr>
          <p:cNvPr id="8" name="Picture 7" descr="20_home_sessions.png"/>
          <p:cNvPicPr>
            <a:picLocks noChangeAspect="1"/>
          </p:cNvPicPr>
          <p:nvPr/>
        </p:nvPicPr>
        <p:blipFill>
          <a:blip r:embed="rId3"/>
          <a:stretch>
            <a:fillRect/>
          </a:stretch>
        </p:blipFill>
        <p:spPr>
          <a:xfrm>
            <a:off x="7524278" y="1691640"/>
            <a:ext cx="1989437" cy="4206240"/>
          </a:xfrm>
          <a:prstGeom prst="rect">
            <a:avLst/>
          </a:prstGeom>
        </p:spPr>
      </p:pic>
      <p:sp>
        <p:nvSpPr>
          <p:cNvPr id="9" name="TextBox 8"/>
          <p:cNvSpPr txBox="1"/>
          <p:nvPr/>
        </p:nvSpPr>
        <p:spPr>
          <a:xfrm>
            <a:off x="502920" y="1691640"/>
            <a:ext cx="6838478" cy="2146300"/>
          </a:xfrm>
          <a:prstGeom prst="rect">
            <a:avLst/>
          </a:prstGeom>
          <a:noFill/>
        </p:spPr>
        <p:txBody>
          <a:bodyPr wrap="square">
            <a:spAutoFit/>
          </a:bodyPr>
          <a:lstStyle/>
          <a:p>
            <a:pPr algn="l">
              <a:spcAft>
                <a:spcPts val="600"/>
              </a:spcAft>
            </a:pPr>
            <a:r>
              <a:rPr sz="1800">
                <a:solidFill>
                  <a:srgbClr val="1F2129"/>
                </a:solidFill>
                <a:latin typeface="Calibri"/>
              </a:rPr>
              <a:t>Alice creates a session called 'Friday Vibes'</a:t>
            </a:r>
          </a:p>
          <a:p>
            <a:pPr algn="l">
              <a:spcAft>
                <a:spcPts val="600"/>
              </a:spcAft>
            </a:pPr>
            <a:r>
              <a:rPr sz="1800">
                <a:solidFill>
                  <a:srgbClr val="1F2129"/>
                </a:solidFill>
                <a:latin typeface="Calibri"/>
              </a:rPr>
              <a:t>Bob joins using the six-character code Alice reads aloud</a:t>
            </a:r>
          </a:p>
          <a:p>
            <a:pPr algn="l">
              <a:spcAft>
                <a:spcPts val="600"/>
              </a:spcAft>
            </a:pPr>
            <a:r>
              <a:rPr sz="1800">
                <a:solidFill>
                  <a:srgbClr val="1F2129"/>
                </a:solidFill>
                <a:latin typeface="Calibri"/>
              </a:rPr>
              <a:t>Both see the same live queue instantly</a:t>
            </a:r>
          </a:p>
          <a:p>
            <a:pPr algn="l">
              <a:spcAft>
                <a:spcPts val="600"/>
              </a:spcAft>
            </a:pPr>
            <a:r>
              <a:rPr sz="1800">
                <a:solidFill>
                  <a:srgbClr val="1F2129"/>
                </a:solidFill>
                <a:latin typeface="Calibri"/>
              </a:rPr>
              <a:t>Alice adds 'Blinding Lights' from Spotify</a:t>
            </a:r>
          </a:p>
          <a:p>
            <a:pPr algn="l">
              <a:spcAft>
                <a:spcPts val="600"/>
              </a:spcAft>
            </a:pPr>
            <a:r>
              <a:rPr sz="1800">
                <a:solidFill>
                  <a:srgbClr val="1F2129"/>
                </a:solidFill>
                <a:latin typeface="Calibri"/>
              </a:rPr>
              <a:t>Bob upvotes — the count updates on both screens in real time</a:t>
            </a:r>
          </a:p>
          <a:p>
            <a:pPr algn="l">
              <a:spcAft>
                <a:spcPts val="600"/>
              </a:spcAft>
            </a:pPr>
            <a:r>
              <a:rPr sz="1800">
                <a:solidFill>
                  <a:srgbClr val="1F2129"/>
                </a:solidFill>
                <a:latin typeface="Calibri"/>
              </a:rPr>
              <a:t>The AI suggests the next song and explains why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B4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338560" cy="822960"/>
          </a:xfrm>
          <a:prstGeom prst="rect">
            <a:avLst/>
          </a:prstGeom>
          <a:noFill/>
        </p:spPr>
        <p:txBody>
          <a:bodyPr wrap="square">
            <a:spAutoFit/>
          </a:bodyPr>
          <a:lstStyle/>
          <a:p>
            <a:r>
              <a:rPr sz="3400" b="1">
                <a:solidFill>
                  <a:srgbClr val="1F2129"/>
                </a:solidFill>
                <a:latin typeface="Calibri"/>
              </a:rPr>
              <a:t>What I built it with</a:t>
            </a:r>
          </a:p>
        </p:txBody>
      </p:sp>
      <p:sp>
        <p:nvSpPr>
          <p:cNvPr id="5" name="TextBox 4"/>
          <p:cNvSpPr txBox="1"/>
          <p:nvPr/>
        </p:nvSpPr>
        <p:spPr>
          <a:xfrm>
            <a:off x="502920" y="1143000"/>
            <a:ext cx="11338560" cy="365760"/>
          </a:xfrm>
          <a:prstGeom prst="rect">
            <a:avLst/>
          </a:prstGeom>
          <a:noFill/>
        </p:spPr>
        <p:txBody>
          <a:bodyPr wrap="square">
            <a:spAutoFit/>
          </a:bodyPr>
          <a:lstStyle/>
          <a:p>
            <a:r>
              <a:rPr sz="1400" b="0" i="1">
                <a:solidFill>
                  <a:srgbClr val="6B4DE6"/>
                </a:solidFill>
                <a:latin typeface="Calibri"/>
              </a:rPr>
              <a:t>Simple tools that just work together</a:t>
            </a:r>
          </a:p>
        </p:txBody>
      </p:sp>
      <p:cxnSp>
        <p:nvCxnSpPr>
          <p:cNvPr id="6" name="Connector 5"/>
          <p:cNvCxnSpPr/>
          <p:nvPr/>
        </p:nvCxnSpPr>
        <p:spPr>
          <a:xfrm>
            <a:off x="502920" y="1527048"/>
            <a:ext cx="11183112"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691640"/>
            <a:ext cx="11183112" cy="2806700"/>
          </a:xfrm>
          <a:prstGeom prst="rect">
            <a:avLst/>
          </a:prstGeom>
          <a:noFill/>
        </p:spPr>
        <p:txBody>
          <a:bodyPr wrap="square">
            <a:spAutoFit/>
          </a:bodyPr>
          <a:lstStyle/>
          <a:p>
            <a:pPr algn="l">
              <a:spcAft>
                <a:spcPts val="600"/>
              </a:spcAft>
            </a:pPr>
            <a:r>
              <a:rPr sz="1800">
                <a:solidFill>
                  <a:srgbClr val="1F2129"/>
                </a:solidFill>
                <a:latin typeface="Calibri"/>
              </a:rPr>
              <a:t>Mobile app — Flutter (one codebase that works on Android phones)</a:t>
            </a:r>
          </a:p>
          <a:p>
            <a:pPr algn="l">
              <a:spcAft>
                <a:spcPts val="600"/>
              </a:spcAft>
            </a:pPr>
            <a:r>
              <a:rPr sz="1800">
                <a:solidFill>
                  <a:srgbClr val="1F2129"/>
                </a:solidFill>
                <a:latin typeface="Calibri"/>
              </a:rPr>
              <a:t>Keeps everything in sync — Riverpod (modern state management)</a:t>
            </a:r>
          </a:p>
          <a:p>
            <a:pPr algn="l">
              <a:spcAft>
                <a:spcPts val="600"/>
              </a:spcAft>
            </a:pPr>
            <a:r>
              <a:rPr sz="1800">
                <a:solidFill>
                  <a:srgbClr val="1F2129"/>
                </a:solidFill>
                <a:latin typeface="Calibri"/>
              </a:rPr>
              <a:t>Moving between screens — go_router (remembers if you're logged in)</a:t>
            </a:r>
          </a:p>
          <a:p>
            <a:pPr algn="l">
              <a:spcAft>
                <a:spcPts val="600"/>
              </a:spcAft>
            </a:pPr>
            <a:r>
              <a:rPr sz="1800">
                <a:solidFill>
                  <a:srgbClr val="1F2129"/>
                </a:solidFill>
                <a:latin typeface="Calibri"/>
              </a:rPr>
              <a:t>Login and user accounts — Firebase Authentication (email + password)</a:t>
            </a:r>
          </a:p>
          <a:p>
            <a:pPr algn="l">
              <a:spcAft>
                <a:spcPts val="600"/>
              </a:spcAft>
            </a:pPr>
            <a:r>
              <a:rPr sz="1800">
                <a:solidFill>
                  <a:srgbClr val="1F2129"/>
                </a:solidFill>
                <a:latin typeface="Calibri"/>
              </a:rPr>
              <a:t>Live shared playlist and chat — Cloud Firestore (updates appear instantly)</a:t>
            </a:r>
          </a:p>
          <a:p>
            <a:pPr algn="l">
              <a:spcAft>
                <a:spcPts val="600"/>
              </a:spcAft>
            </a:pPr>
            <a:r>
              <a:rPr sz="1800">
                <a:solidFill>
                  <a:srgbClr val="1F2129"/>
                </a:solidFill>
                <a:latin typeface="Calibri"/>
              </a:rPr>
              <a:t>Profile pictures — Firebase Storage</a:t>
            </a:r>
          </a:p>
          <a:p>
            <a:pPr algn="l">
              <a:spcAft>
                <a:spcPts val="600"/>
              </a:spcAft>
            </a:pPr>
            <a:r>
              <a:rPr sz="1800">
                <a:solidFill>
                  <a:srgbClr val="1F2129"/>
                </a:solidFill>
                <a:latin typeface="Calibri"/>
              </a:rPr>
              <a:t>Push notifications when friends vote or join — Firebase Cloud Messaging</a:t>
            </a:r>
          </a:p>
          <a:p>
            <a:pPr algn="l">
              <a:spcAft>
                <a:spcPts val="600"/>
              </a:spcAft>
            </a:pPr>
            <a:r>
              <a:rPr sz="1800">
                <a:solidFill>
                  <a:srgbClr val="1F2129"/>
                </a:solidFill>
                <a:latin typeface="Calibri"/>
              </a:rPr>
              <a:t>Searching Spotify without exposing secrets — Cloud Functions (the secret stays on the server)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B4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338560" cy="822960"/>
          </a:xfrm>
          <a:prstGeom prst="rect">
            <a:avLst/>
          </a:prstGeom>
          <a:noFill/>
        </p:spPr>
        <p:txBody>
          <a:bodyPr wrap="square">
            <a:spAutoFit/>
          </a:bodyPr>
          <a:lstStyle/>
          <a:p>
            <a:r>
              <a:rPr sz="3400" b="1">
                <a:solidFill>
                  <a:srgbClr val="1F2129"/>
                </a:solidFill>
                <a:latin typeface="Calibri"/>
              </a:rPr>
              <a:t>I built the hard parts in this order</a:t>
            </a:r>
          </a:p>
        </p:txBody>
      </p:sp>
      <p:sp>
        <p:nvSpPr>
          <p:cNvPr id="5" name="TextBox 4"/>
          <p:cNvSpPr txBox="1"/>
          <p:nvPr/>
        </p:nvSpPr>
        <p:spPr>
          <a:xfrm>
            <a:off x="502920" y="1143000"/>
            <a:ext cx="11338560" cy="365760"/>
          </a:xfrm>
          <a:prstGeom prst="rect">
            <a:avLst/>
          </a:prstGeom>
          <a:noFill/>
        </p:spPr>
        <p:txBody>
          <a:bodyPr wrap="square">
            <a:spAutoFit/>
          </a:bodyPr>
          <a:lstStyle/>
          <a:p>
            <a:r>
              <a:rPr sz="1400" b="0" i="1">
                <a:solidFill>
                  <a:srgbClr val="6B4DE6"/>
                </a:solidFill>
                <a:latin typeface="Calibri"/>
              </a:rPr>
              <a:t>Q1 — Implementation</a:t>
            </a:r>
          </a:p>
        </p:txBody>
      </p:sp>
      <p:cxnSp>
        <p:nvCxnSpPr>
          <p:cNvPr id="6" name="Connector 5"/>
          <p:cNvCxnSpPr/>
          <p:nvPr/>
        </p:nvCxnSpPr>
        <p:spPr>
          <a:xfrm>
            <a:off x="502920" y="1527048"/>
            <a:ext cx="11183112"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691640"/>
            <a:ext cx="11183112" cy="2806700"/>
          </a:xfrm>
          <a:prstGeom prst="rect">
            <a:avLst/>
          </a:prstGeom>
          <a:noFill/>
        </p:spPr>
        <p:txBody>
          <a:bodyPr wrap="square">
            <a:spAutoFit/>
          </a:bodyPr>
          <a:lstStyle/>
          <a:p>
            <a:pPr algn="l">
              <a:spcAft>
                <a:spcPts val="600"/>
              </a:spcAft>
            </a:pPr>
            <a:r>
              <a:rPr sz="1800">
                <a:solidFill>
                  <a:srgbClr val="1F2129"/>
                </a:solidFill>
                <a:latin typeface="Calibri"/>
              </a:rPr>
              <a:t>First: the shared playlist and voting system</a:t>
            </a:r>
          </a:p>
          <a:p>
            <a:pPr algn="l">
              <a:spcAft>
                <a:spcPts val="600"/>
              </a:spcAft>
            </a:pPr>
            <a:r>
              <a:rPr sz="1800">
                <a:solidFill>
                  <a:srgbClr val="1F2129"/>
                </a:solidFill>
                <a:latin typeface="Calibri"/>
              </a:rPr>
              <a:t>   - This tested login, the database, and security rules all at once</a:t>
            </a:r>
          </a:p>
          <a:p>
            <a:pPr algn="l">
              <a:spcAft>
                <a:spcPts val="600"/>
              </a:spcAft>
            </a:pPr>
            <a:r>
              <a:rPr sz="1800">
                <a:solidFill>
                  <a:srgbClr val="1F2129"/>
                </a:solidFill>
                <a:latin typeface="Calibri"/>
              </a:rPr>
              <a:t>Second: the Spotify search (through a Cloud Function on the server)</a:t>
            </a:r>
          </a:p>
          <a:p>
            <a:pPr algn="l">
              <a:spcAft>
                <a:spcPts val="600"/>
              </a:spcAft>
            </a:pPr>
            <a:r>
              <a:rPr sz="1800">
                <a:solidFill>
                  <a:srgbClr val="1F2129"/>
                </a:solidFill>
                <a:latin typeface="Calibri"/>
              </a:rPr>
              <a:t>   - The playlist was already working, so I could test real songs safely</a:t>
            </a:r>
          </a:p>
          <a:p>
            <a:pPr algn="l">
              <a:spcAft>
                <a:spcPts val="600"/>
              </a:spcAft>
            </a:pPr>
            <a:r>
              <a:rPr sz="1800">
                <a:solidFill>
                  <a:srgbClr val="1F2129"/>
                </a:solidFill>
                <a:latin typeface="Calibri"/>
              </a:rPr>
              <a:t>Third: the AI song suggestions and fairness ranking</a:t>
            </a:r>
          </a:p>
          <a:p>
            <a:pPr algn="l">
              <a:spcAft>
                <a:spcPts val="600"/>
              </a:spcAft>
            </a:pPr>
            <a:r>
              <a:rPr sz="1800">
                <a:solidFill>
                  <a:srgbClr val="1F2129"/>
                </a:solidFill>
                <a:latin typeface="Calibri"/>
              </a:rPr>
              <a:t>   - These use the playlist data that was already solid</a:t>
            </a:r>
          </a:p>
          <a:p>
            <a:pPr algn="l">
              <a:spcAft>
                <a:spcPts val="600"/>
              </a:spcAft>
            </a:pPr>
          </a:p>
          <a:p>
            <a:pPr algn="l">
              <a:spcAft>
                <a:spcPts val="600"/>
              </a:spcAft>
            </a:pPr>
            <a:r>
              <a:rPr sz="1800">
                <a:solidFill>
                  <a:srgbClr val="1F2129"/>
                </a:solidFill>
                <a:latin typeface="Calibri"/>
              </a:rPr>
              <a:t>Building this way meant each new feature had something that already worked underneath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B4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338560" cy="822960"/>
          </a:xfrm>
          <a:prstGeom prst="rect">
            <a:avLst/>
          </a:prstGeom>
          <a:noFill/>
        </p:spPr>
        <p:txBody>
          <a:bodyPr wrap="square">
            <a:spAutoFit/>
          </a:bodyPr>
          <a:lstStyle/>
          <a:p>
            <a:r>
              <a:rPr sz="3400" b="1">
                <a:solidFill>
                  <a:srgbClr val="1F2129"/>
                </a:solidFill>
                <a:latin typeface="Calibri"/>
              </a:rPr>
              <a:t>I kept each screen simple and easy to follow</a:t>
            </a:r>
          </a:p>
        </p:txBody>
      </p:sp>
      <p:sp>
        <p:nvSpPr>
          <p:cNvPr id="5" name="TextBox 4"/>
          <p:cNvSpPr txBox="1"/>
          <p:nvPr/>
        </p:nvSpPr>
        <p:spPr>
          <a:xfrm>
            <a:off x="502920" y="1143000"/>
            <a:ext cx="11338560" cy="365760"/>
          </a:xfrm>
          <a:prstGeom prst="rect">
            <a:avLst/>
          </a:prstGeom>
          <a:noFill/>
        </p:spPr>
        <p:txBody>
          <a:bodyPr wrap="square">
            <a:spAutoFit/>
          </a:bodyPr>
          <a:lstStyle/>
          <a:p>
            <a:r>
              <a:rPr sz="1400" b="0" i="1">
                <a:solidFill>
                  <a:srgbClr val="6B4DE6"/>
                </a:solidFill>
                <a:latin typeface="Calibri"/>
              </a:rPr>
              <a:t>Q4 + Q5 — Architecture</a:t>
            </a:r>
          </a:p>
        </p:txBody>
      </p:sp>
      <p:cxnSp>
        <p:nvCxnSpPr>
          <p:cNvPr id="6" name="Connector 5"/>
          <p:cNvCxnSpPr/>
          <p:nvPr/>
        </p:nvCxnSpPr>
        <p:spPr>
          <a:xfrm>
            <a:off x="502920" y="1527048"/>
            <a:ext cx="11183112"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691640"/>
            <a:ext cx="11183112" cy="2806700"/>
          </a:xfrm>
          <a:prstGeom prst="rect">
            <a:avLst/>
          </a:prstGeom>
          <a:noFill/>
        </p:spPr>
        <p:txBody>
          <a:bodyPr wrap="square">
            <a:spAutoFit/>
          </a:bodyPr>
          <a:lstStyle/>
          <a:p>
            <a:pPr algn="l">
              <a:spcAft>
                <a:spcPts val="600"/>
              </a:spcAft>
            </a:pPr>
            <a:r>
              <a:rPr sz="1800">
                <a:solidFill>
                  <a:srgbClr val="1F2129"/>
                </a:solidFill>
                <a:latin typeface="Calibri"/>
              </a:rPr>
              <a:t>The main session screen used to try to do everything at once (playlist, chat, suggestions)</a:t>
            </a:r>
          </a:p>
          <a:p>
            <a:pPr algn="l">
              <a:spcAft>
                <a:spcPts val="600"/>
              </a:spcAft>
            </a:pPr>
            <a:r>
              <a:rPr sz="1800">
                <a:solidFill>
                  <a:srgbClr val="1F2129"/>
                </a:solidFill>
                <a:latin typeface="Calibri"/>
              </a:rPr>
              <a:t>I split it into smaller pieces that each have one job:</a:t>
            </a:r>
          </a:p>
          <a:p>
            <a:pPr algn="l">
              <a:spcAft>
                <a:spcPts val="600"/>
              </a:spcAft>
            </a:pPr>
            <a:r>
              <a:rPr sz="1800">
                <a:solidFill>
                  <a:srgbClr val="1F2129"/>
                </a:solidFill>
                <a:latin typeface="Calibri"/>
              </a:rPr>
              <a:t>   • QueueTrackTile — shows one song and its vote buttons</a:t>
            </a:r>
          </a:p>
          <a:p>
            <a:pPr algn="l">
              <a:spcAft>
                <a:spcPts val="600"/>
              </a:spcAft>
            </a:pPr>
            <a:r>
              <a:rPr sz="1800">
                <a:solidFill>
                  <a:srgbClr val="1F2129"/>
                </a:solidFill>
                <a:latin typeface="Calibri"/>
              </a:rPr>
              <a:t>   • SuggestionsCard — shows the AI's next-song ideas with explanations</a:t>
            </a:r>
          </a:p>
          <a:p>
            <a:pPr algn="l">
              <a:spcAft>
                <a:spcPts val="600"/>
              </a:spcAft>
            </a:pPr>
            <a:r>
              <a:rPr sz="1800">
                <a:solidFill>
                  <a:srgbClr val="1F2129"/>
                </a:solidFill>
                <a:latin typeface="Calibri"/>
              </a:rPr>
              <a:t>   • ChatScreen — its own page so you can switch away and come back</a:t>
            </a:r>
          </a:p>
          <a:p>
            <a:pPr algn="l">
              <a:spcAft>
                <a:spcPts val="600"/>
              </a:spcAft>
            </a:pPr>
          </a:p>
          <a:p>
            <a:pPr algn="l">
              <a:spcAft>
                <a:spcPts val="600"/>
              </a:spcAft>
            </a:pPr>
            <a:r>
              <a:rPr sz="1800">
                <a:solidFill>
                  <a:srgbClr val="1F2129"/>
                </a:solidFill>
                <a:latin typeface="Calibri"/>
              </a:rPr>
              <a:t>Navigation remembers whether you're logged in and sends you to the right place automatically.</a:t>
            </a:r>
          </a:p>
          <a:p>
            <a:pPr algn="l">
              <a:spcAft>
                <a:spcPts val="600"/>
              </a:spcAft>
            </a:pPr>
            <a:r>
              <a:rPr sz="1800">
                <a:solidFill>
                  <a:srgbClr val="1F2129"/>
                </a:solidFill>
                <a:latin typeface="Calibri"/>
              </a:rPr>
              <a:t>Adding a new screen later is just one line of code.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B4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338560" cy="822960"/>
          </a:xfrm>
          <a:prstGeom prst="rect">
            <a:avLst/>
          </a:prstGeom>
          <a:noFill/>
        </p:spPr>
        <p:txBody>
          <a:bodyPr wrap="square">
            <a:spAutoFit/>
          </a:bodyPr>
          <a:lstStyle/>
          <a:p>
            <a:r>
              <a:rPr sz="3400" b="1">
                <a:solidFill>
                  <a:srgbClr val="1F2129"/>
                </a:solidFill>
                <a:latin typeface="Calibri"/>
              </a:rPr>
              <a:t>How the data is organized</a:t>
            </a:r>
          </a:p>
        </p:txBody>
      </p:sp>
      <p:sp>
        <p:nvSpPr>
          <p:cNvPr id="5" name="TextBox 4"/>
          <p:cNvSpPr txBox="1"/>
          <p:nvPr/>
        </p:nvSpPr>
        <p:spPr>
          <a:xfrm>
            <a:off x="502920" y="1143000"/>
            <a:ext cx="11338560" cy="365760"/>
          </a:xfrm>
          <a:prstGeom prst="rect">
            <a:avLst/>
          </a:prstGeom>
          <a:noFill/>
        </p:spPr>
        <p:txBody>
          <a:bodyPr wrap="square">
            <a:spAutoFit/>
          </a:bodyPr>
          <a:lstStyle/>
          <a:p>
            <a:r>
              <a:rPr sz="1400" b="0" i="1">
                <a:solidFill>
                  <a:srgbClr val="6B4DE6"/>
                </a:solidFill>
                <a:latin typeface="Calibri"/>
              </a:rPr>
              <a:t>Q10 — Firebase</a:t>
            </a:r>
          </a:p>
        </p:txBody>
      </p:sp>
      <p:cxnSp>
        <p:nvCxnSpPr>
          <p:cNvPr id="6" name="Connector 5"/>
          <p:cNvCxnSpPr/>
          <p:nvPr/>
        </p:nvCxnSpPr>
        <p:spPr>
          <a:xfrm>
            <a:off x="502920" y="1527048"/>
            <a:ext cx="11183112"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pic>
        <p:nvPicPr>
          <p:cNvPr id="7" name="Picture 6" descr="20_home_sessions.png"/>
          <p:cNvPicPr>
            <a:picLocks noChangeAspect="1"/>
          </p:cNvPicPr>
          <p:nvPr/>
        </p:nvPicPr>
        <p:blipFill>
          <a:blip r:embed="rId2"/>
          <a:stretch>
            <a:fillRect/>
          </a:stretch>
        </p:blipFill>
        <p:spPr>
          <a:xfrm>
            <a:off x="9523600" y="1691640"/>
            <a:ext cx="2162432" cy="4572000"/>
          </a:xfrm>
          <a:prstGeom prst="rect">
            <a:avLst/>
          </a:prstGeom>
        </p:spPr>
      </p:pic>
      <p:sp>
        <p:nvSpPr>
          <p:cNvPr id="8" name="TextBox 7"/>
          <p:cNvSpPr txBox="1"/>
          <p:nvPr/>
        </p:nvSpPr>
        <p:spPr>
          <a:xfrm>
            <a:off x="502920" y="1691640"/>
            <a:ext cx="8837800" cy="2806700"/>
          </a:xfrm>
          <a:prstGeom prst="rect">
            <a:avLst/>
          </a:prstGeom>
          <a:noFill/>
        </p:spPr>
        <p:txBody>
          <a:bodyPr wrap="square">
            <a:spAutoFit/>
          </a:bodyPr>
          <a:lstStyle/>
          <a:p>
            <a:pPr algn="l">
              <a:spcAft>
                <a:spcPts val="600"/>
              </a:spcAft>
            </a:pPr>
            <a:r>
              <a:rPr sz="1800">
                <a:solidFill>
                  <a:srgbClr val="1F2129"/>
                </a:solidFill>
                <a:latin typeface="Calibri"/>
              </a:rPr>
              <a:t>Three main collections:</a:t>
            </a:r>
          </a:p>
          <a:p>
            <a:pPr algn="l">
              <a:spcAft>
                <a:spcPts val="600"/>
              </a:spcAft>
            </a:pPr>
            <a:r>
              <a:rPr sz="1800">
                <a:solidFill>
                  <a:srgbClr val="1F2129"/>
                </a:solidFill>
                <a:latin typeface="Calibri"/>
              </a:rPr>
              <a:t>   • users — profile and preferences</a:t>
            </a:r>
          </a:p>
          <a:p>
            <a:pPr algn="l">
              <a:spcAft>
                <a:spcPts val="600"/>
              </a:spcAft>
            </a:pPr>
            <a:r>
              <a:rPr sz="1800">
                <a:solidFill>
                  <a:srgbClr val="1F2129"/>
                </a:solidFill>
                <a:latin typeface="Calibri"/>
              </a:rPr>
              <a:t>   • sessions — the playlist room itself</a:t>
            </a:r>
          </a:p>
          <a:p>
            <a:pPr algn="l">
              <a:spcAft>
                <a:spcPts val="600"/>
              </a:spcAft>
            </a:pPr>
            <a:r>
              <a:rPr sz="1800">
                <a:solidFill>
                  <a:srgbClr val="1F2129"/>
                </a:solidFill>
                <a:latin typeface="Calibri"/>
              </a:rPr>
              <a:t>   • joinCodes — lookup so friends can join with a 6-letter code</a:t>
            </a:r>
          </a:p>
          <a:p>
            <a:pPr algn="l">
              <a:spcAft>
                <a:spcPts val="600"/>
              </a:spcAft>
            </a:pPr>
          </a:p>
          <a:p>
            <a:pPr algn="l">
              <a:spcAft>
                <a:spcPts val="600"/>
              </a:spcAft>
            </a:pPr>
            <a:r>
              <a:rPr sz="1800">
                <a:solidFill>
                  <a:srgbClr val="1F2129"/>
                </a:solidFill>
                <a:latin typeface="Calibri"/>
              </a:rPr>
              <a:t>Inside each session: members, queue (songs), messages (chat), suggestions (AI)</a:t>
            </a:r>
          </a:p>
          <a:p>
            <a:pPr algn="l">
              <a:spcAft>
                <a:spcPts val="600"/>
              </a:spcAft>
            </a:pPr>
          </a:p>
          <a:p>
            <a:pPr algn="l">
              <a:spcAft>
                <a:spcPts val="600"/>
              </a:spcAft>
            </a:pPr>
            <a:r>
              <a:rPr sz="1800">
                <a:solidFill>
                  <a:srgbClr val="1F2129"/>
                </a:solidFill>
                <a:latin typeface="Calibri"/>
              </a:rPr>
              <a:t>This makes security rules simple and screens fast — leaving cleans up automatically.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B4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338560" cy="822960"/>
          </a:xfrm>
          <a:prstGeom prst="rect">
            <a:avLst/>
          </a:prstGeom>
          <a:noFill/>
        </p:spPr>
        <p:txBody>
          <a:bodyPr wrap="square">
            <a:spAutoFit/>
          </a:bodyPr>
          <a:lstStyle/>
          <a:p>
            <a:r>
              <a:rPr sz="3400" b="1">
                <a:solidFill>
                  <a:srgbClr val="1F2129"/>
                </a:solidFill>
                <a:latin typeface="Calibri"/>
              </a:rPr>
              <a:t>The join-by-code problem (and how I fixed it)</a:t>
            </a:r>
          </a:p>
        </p:txBody>
      </p:sp>
      <p:sp>
        <p:nvSpPr>
          <p:cNvPr id="5" name="TextBox 4"/>
          <p:cNvSpPr txBox="1"/>
          <p:nvPr/>
        </p:nvSpPr>
        <p:spPr>
          <a:xfrm>
            <a:off x="502920" y="1143000"/>
            <a:ext cx="11338560" cy="365760"/>
          </a:xfrm>
          <a:prstGeom prst="rect">
            <a:avLst/>
          </a:prstGeom>
          <a:noFill/>
        </p:spPr>
        <p:txBody>
          <a:bodyPr wrap="square">
            <a:spAutoFit/>
          </a:bodyPr>
          <a:lstStyle/>
          <a:p>
            <a:r>
              <a:rPr sz="1400" b="0" i="1">
                <a:solidFill>
                  <a:srgbClr val="6B4DE6"/>
                </a:solidFill>
                <a:latin typeface="Calibri"/>
              </a:rPr>
              <a:t>Q14 + Q6 — Reflection + Architecture</a:t>
            </a:r>
          </a:p>
        </p:txBody>
      </p:sp>
      <p:cxnSp>
        <p:nvCxnSpPr>
          <p:cNvPr id="6" name="Connector 5"/>
          <p:cNvCxnSpPr/>
          <p:nvPr/>
        </p:nvCxnSpPr>
        <p:spPr>
          <a:xfrm>
            <a:off x="502920" y="1527048"/>
            <a:ext cx="11183112"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pic>
        <p:nvPicPr>
          <p:cNvPr id="7" name="Picture 6" descr="30_session_with_queue.png"/>
          <p:cNvPicPr>
            <a:picLocks noChangeAspect="1"/>
          </p:cNvPicPr>
          <p:nvPr/>
        </p:nvPicPr>
        <p:blipFill>
          <a:blip r:embed="rId2"/>
          <a:stretch>
            <a:fillRect/>
          </a:stretch>
        </p:blipFill>
        <p:spPr>
          <a:xfrm>
            <a:off x="9523600" y="1691640"/>
            <a:ext cx="2162432" cy="4572000"/>
          </a:xfrm>
          <a:prstGeom prst="rect">
            <a:avLst/>
          </a:prstGeom>
        </p:spPr>
      </p:pic>
      <p:sp>
        <p:nvSpPr>
          <p:cNvPr id="8" name="TextBox 7"/>
          <p:cNvSpPr txBox="1"/>
          <p:nvPr/>
        </p:nvSpPr>
        <p:spPr>
          <a:xfrm>
            <a:off x="502920" y="1691640"/>
            <a:ext cx="8837800" cy="2476500"/>
          </a:xfrm>
          <a:prstGeom prst="rect">
            <a:avLst/>
          </a:prstGeom>
          <a:noFill/>
        </p:spPr>
        <p:txBody>
          <a:bodyPr wrap="square">
            <a:spAutoFit/>
          </a:bodyPr>
          <a:lstStyle/>
          <a:p>
            <a:pPr algn="l">
              <a:spcAft>
                <a:spcPts val="600"/>
              </a:spcAft>
            </a:pPr>
            <a:r>
              <a:rPr sz="1800">
                <a:solidFill>
                  <a:srgbClr val="1F2129"/>
                </a:solidFill>
                <a:latin typeface="Calibri"/>
              </a:rPr>
              <a:t>Early version: to join you had to see every session — that broke privacy rules</a:t>
            </a:r>
          </a:p>
          <a:p>
            <a:pPr algn="l">
              <a:spcAft>
                <a:spcPts val="600"/>
              </a:spcAft>
            </a:pPr>
            <a:r>
              <a:rPr sz="1800">
                <a:solidFill>
                  <a:srgbClr val="1F2129"/>
                </a:solidFill>
                <a:latin typeface="Calibri"/>
              </a:rPr>
              <a:t>Solution:</a:t>
            </a:r>
          </a:p>
          <a:p>
            <a:pPr algn="l">
              <a:spcAft>
                <a:spcPts val="600"/>
              </a:spcAft>
            </a:pPr>
            <a:r>
              <a:rPr sz="1800">
                <a:solidFill>
                  <a:srgbClr val="1F2129"/>
                </a:solidFill>
                <a:latin typeface="Calibri"/>
              </a:rPr>
              <a:t>   1. A small public lookup table (joinCodes) anyone logged in can read</a:t>
            </a:r>
          </a:p>
          <a:p>
            <a:pPr algn="l">
              <a:spcAft>
                <a:spcPts val="600"/>
              </a:spcAft>
            </a:pPr>
            <a:r>
              <a:rPr sz="1800">
                <a:solidFill>
                  <a:srgbClr val="1F2129"/>
                </a:solidFill>
                <a:latin typeface="Calibri"/>
              </a:rPr>
              <a:t>   2. A rule that lets a new person add ONLY themselves to the member list</a:t>
            </a:r>
          </a:p>
          <a:p>
            <a:pPr algn="l">
              <a:spcAft>
                <a:spcPts val="600"/>
              </a:spcAft>
            </a:pPr>
          </a:p>
          <a:p>
            <a:pPr algn="l">
              <a:spcAft>
                <a:spcPts val="600"/>
              </a:spcAft>
            </a:pPr>
            <a:r>
              <a:rPr sz="1800">
                <a:solidFill>
                  <a:srgbClr val="1F2129"/>
                </a:solidFill>
                <a:latin typeface="Calibri"/>
              </a:rPr>
              <a:t>This pattern is now my go-to for any 'share this link' feature.</a:t>
            </a:r>
          </a:p>
          <a:p>
            <a:pPr algn="l">
              <a:spcAft>
                <a:spcPts val="600"/>
              </a:spcAft>
            </a:pPr>
            <a:r>
              <a:rPr sz="1800">
                <a:solidFill>
                  <a:srgbClr val="1F2129"/>
                </a:solidFill>
                <a:latin typeface="Calibri"/>
              </a:rPr>
              <a:t>Hardest bug I fixed — see Bug 2 in the bug log.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B4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338560" cy="822960"/>
          </a:xfrm>
          <a:prstGeom prst="rect">
            <a:avLst/>
          </a:prstGeom>
          <a:noFill/>
        </p:spPr>
        <p:txBody>
          <a:bodyPr wrap="square">
            <a:spAutoFit/>
          </a:bodyPr>
          <a:lstStyle/>
          <a:p>
            <a:r>
              <a:rPr sz="3400" b="1">
                <a:solidFill>
                  <a:srgbClr val="1F2129"/>
                </a:solidFill>
                <a:latin typeface="Calibri"/>
              </a:rPr>
              <a:t>Making the home screen fast again</a:t>
            </a:r>
          </a:p>
        </p:txBody>
      </p:sp>
      <p:sp>
        <p:nvSpPr>
          <p:cNvPr id="5" name="TextBox 4"/>
          <p:cNvSpPr txBox="1"/>
          <p:nvPr/>
        </p:nvSpPr>
        <p:spPr>
          <a:xfrm>
            <a:off x="502920" y="1143000"/>
            <a:ext cx="11338560" cy="365760"/>
          </a:xfrm>
          <a:prstGeom prst="rect">
            <a:avLst/>
          </a:prstGeom>
          <a:noFill/>
        </p:spPr>
        <p:txBody>
          <a:bodyPr wrap="square">
            <a:spAutoFit/>
          </a:bodyPr>
          <a:lstStyle/>
          <a:p>
            <a:r>
              <a:rPr sz="1400" b="0" i="1">
                <a:solidFill>
                  <a:srgbClr val="6B4DE6"/>
                </a:solidFill>
                <a:latin typeface="Calibri"/>
              </a:rPr>
              <a:t>Q11 — Firebase</a:t>
            </a:r>
          </a:p>
        </p:txBody>
      </p:sp>
      <p:cxnSp>
        <p:nvCxnSpPr>
          <p:cNvPr id="6" name="Connector 5"/>
          <p:cNvCxnSpPr/>
          <p:nvPr/>
        </p:nvCxnSpPr>
        <p:spPr>
          <a:xfrm>
            <a:off x="502920" y="1527048"/>
            <a:ext cx="11183112"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691640"/>
            <a:ext cx="11183112" cy="2146300"/>
          </a:xfrm>
          <a:prstGeom prst="rect">
            <a:avLst/>
          </a:prstGeom>
          <a:noFill/>
        </p:spPr>
        <p:txBody>
          <a:bodyPr wrap="square">
            <a:spAutoFit/>
          </a:bodyPr>
          <a:lstStyle/>
          <a:p>
            <a:pPr algn="l">
              <a:spcAft>
                <a:spcPts val="600"/>
              </a:spcAft>
            </a:pPr>
            <a:r>
              <a:rPr sz="1800">
                <a:solidFill>
                  <a:srgbClr val="1F2129"/>
                </a:solidFill>
                <a:latin typeface="Calibri"/>
              </a:rPr>
              <a:t>The home screen asks: 'show me all the sessions I'm part of, newest first'</a:t>
            </a:r>
          </a:p>
          <a:p>
            <a:pPr algn="l">
              <a:spcAft>
                <a:spcPts val="600"/>
              </a:spcAft>
            </a:pPr>
            <a:r>
              <a:rPr sz="1800">
                <a:solidFill>
                  <a:srgbClr val="1F2129"/>
                </a:solidFill>
                <a:latin typeface="Calibri"/>
              </a:rPr>
              <a:t>That combination of filters needs a special index in the database</a:t>
            </a:r>
          </a:p>
          <a:p>
            <a:pPr algn="l">
              <a:spcAft>
                <a:spcPts val="600"/>
              </a:spcAft>
            </a:pPr>
            <a:r>
              <a:rPr sz="1800">
                <a:solidFill>
                  <a:srgbClr val="1F2129"/>
                </a:solidFill>
                <a:latin typeface="Calibri"/>
              </a:rPr>
              <a:t>I added it to a file called firestore.indexes.json so it gets deployed automatically</a:t>
            </a:r>
          </a:p>
          <a:p>
            <a:pPr algn="l">
              <a:spcAft>
                <a:spcPts val="600"/>
              </a:spcAft>
            </a:pPr>
          </a:p>
          <a:p>
            <a:pPr algn="l">
              <a:spcAft>
                <a:spcPts val="600"/>
              </a:spcAft>
            </a:pPr>
            <a:r>
              <a:rPr sz="1800">
                <a:solidFill>
                  <a:srgbClr val="1F2129"/>
                </a:solidFill>
                <a:latin typeface="Calibri"/>
              </a:rPr>
              <a:t>Without it the screen would spin forever. With it the list appears in under 200 milliseconds.</a:t>
            </a:r>
          </a:p>
          <a:p>
            <a:pPr algn="l">
              <a:spcAft>
                <a:spcPts val="600"/>
              </a:spcAft>
            </a:pPr>
            <a:r>
              <a:rPr sz="1800">
                <a:solidFill>
                  <a:srgbClr val="1F2129"/>
                </a:solidFill>
                <a:latin typeface="Calibri"/>
              </a:rPr>
              <a:t>Same fix was needed for the playlist view once we started hiding played songs.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B4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338560" cy="822960"/>
          </a:xfrm>
          <a:prstGeom prst="rect">
            <a:avLst/>
          </a:prstGeom>
          <a:noFill/>
        </p:spPr>
        <p:txBody>
          <a:bodyPr wrap="square">
            <a:spAutoFit/>
          </a:bodyPr>
          <a:lstStyle/>
          <a:p>
            <a:r>
              <a:rPr sz="3400" b="1">
                <a:solidFill>
                  <a:srgbClr val="1F2129"/>
                </a:solidFill>
                <a:latin typeface="Calibri"/>
              </a:rPr>
              <a:t>Only you can edit your own profile</a:t>
            </a:r>
          </a:p>
        </p:txBody>
      </p:sp>
      <p:sp>
        <p:nvSpPr>
          <p:cNvPr id="5" name="TextBox 4"/>
          <p:cNvSpPr txBox="1"/>
          <p:nvPr/>
        </p:nvSpPr>
        <p:spPr>
          <a:xfrm>
            <a:off x="502920" y="1143000"/>
            <a:ext cx="11338560" cy="365760"/>
          </a:xfrm>
          <a:prstGeom prst="rect">
            <a:avLst/>
          </a:prstGeom>
          <a:noFill/>
        </p:spPr>
        <p:txBody>
          <a:bodyPr wrap="square">
            <a:spAutoFit/>
          </a:bodyPr>
          <a:lstStyle/>
          <a:p>
            <a:r>
              <a:rPr sz="1400" b="0" i="1">
                <a:solidFill>
                  <a:srgbClr val="6B4DE6"/>
                </a:solidFill>
                <a:latin typeface="Calibri"/>
              </a:rPr>
              <a:t>Q12 — Firebase</a:t>
            </a:r>
          </a:p>
        </p:txBody>
      </p:sp>
      <p:cxnSp>
        <p:nvCxnSpPr>
          <p:cNvPr id="6" name="Connector 5"/>
          <p:cNvCxnSpPr/>
          <p:nvPr/>
        </p:nvCxnSpPr>
        <p:spPr>
          <a:xfrm>
            <a:off x="502920" y="1527048"/>
            <a:ext cx="11183112"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pic>
        <p:nvPicPr>
          <p:cNvPr id="7" name="Picture 6" descr="11_signup.png"/>
          <p:cNvPicPr>
            <a:picLocks noChangeAspect="1"/>
          </p:cNvPicPr>
          <p:nvPr/>
        </p:nvPicPr>
        <p:blipFill>
          <a:blip r:embed="rId2"/>
          <a:stretch>
            <a:fillRect/>
          </a:stretch>
        </p:blipFill>
        <p:spPr>
          <a:xfrm>
            <a:off x="9523600" y="1691640"/>
            <a:ext cx="2162432" cy="4572000"/>
          </a:xfrm>
          <a:prstGeom prst="rect">
            <a:avLst/>
          </a:prstGeom>
        </p:spPr>
      </p:pic>
      <p:sp>
        <p:nvSpPr>
          <p:cNvPr id="8" name="TextBox 7"/>
          <p:cNvSpPr txBox="1"/>
          <p:nvPr/>
        </p:nvSpPr>
        <p:spPr>
          <a:xfrm>
            <a:off x="502920" y="1691640"/>
            <a:ext cx="8837800" cy="1816100"/>
          </a:xfrm>
          <a:prstGeom prst="rect">
            <a:avLst/>
          </a:prstGeom>
          <a:noFill/>
        </p:spPr>
        <p:txBody>
          <a:bodyPr wrap="square">
            <a:spAutoFit/>
          </a:bodyPr>
          <a:lstStyle/>
          <a:p>
            <a:pPr algn="l">
              <a:spcAft>
                <a:spcPts val="600"/>
              </a:spcAft>
            </a:pPr>
            <a:r>
              <a:rPr sz="1800">
                <a:solidFill>
                  <a:srgbClr val="1F2129"/>
                </a:solidFill>
                <a:latin typeface="Calibri"/>
              </a:rPr>
              <a:t>Rule: if the person asking is logged in as you, they can read and change your profile</a:t>
            </a:r>
          </a:p>
          <a:p>
            <a:pPr algn="l">
              <a:spcAft>
                <a:spcPts val="600"/>
              </a:spcAft>
            </a:pPr>
            <a:r>
              <a:rPr sz="1800">
                <a:solidFill>
                  <a:srgbClr val="1F2129"/>
                </a:solidFill>
                <a:latin typeface="Calibri"/>
              </a:rPr>
              <a:t>If they're not logged in, or they're looking at someone else's profile, the request is blocked</a:t>
            </a:r>
          </a:p>
          <a:p>
            <a:pPr algn="l">
              <a:spcAft>
                <a:spcPts val="600"/>
              </a:spcAft>
            </a:pPr>
            <a:r>
              <a:rPr sz="1800">
                <a:solidFill>
                  <a:srgbClr val="1F2129"/>
                </a:solidFill>
                <a:latin typeface="Calibri"/>
              </a:rPr>
              <a:t>Deleting profiles is turned off completely — handled through a secure server process</a:t>
            </a:r>
          </a:p>
          <a:p>
            <a:pPr algn="l">
              <a:spcAft>
                <a:spcPts val="600"/>
              </a:spcAft>
            </a:pPr>
          </a:p>
          <a:p>
            <a:pPr algn="l">
              <a:spcAft>
                <a:spcPts val="600"/>
              </a:spcAft>
            </a:pPr>
            <a:r>
              <a:rPr sz="1800">
                <a:solidFill>
                  <a:srgbClr val="1F2129"/>
                </a:solidFill>
                <a:latin typeface="Calibri"/>
              </a:rPr>
              <a:t>I tested this in the Firebase console and with automated tests so I know it works.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B4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338560" cy="822960"/>
          </a:xfrm>
          <a:prstGeom prst="rect">
            <a:avLst/>
          </a:prstGeom>
          <a:noFill/>
        </p:spPr>
        <p:txBody>
          <a:bodyPr wrap="square">
            <a:spAutoFit/>
          </a:bodyPr>
          <a:lstStyle/>
          <a:p>
            <a:r>
              <a:rPr sz="3400" b="1">
                <a:solidFill>
                  <a:srgbClr val="1F2129"/>
                </a:solidFill>
                <a:latin typeface="Calibri"/>
              </a:rPr>
              <a:t>How push notifications work</a:t>
            </a:r>
          </a:p>
        </p:txBody>
      </p:sp>
      <p:sp>
        <p:nvSpPr>
          <p:cNvPr id="5" name="TextBox 4"/>
          <p:cNvSpPr txBox="1"/>
          <p:nvPr/>
        </p:nvSpPr>
        <p:spPr>
          <a:xfrm>
            <a:off x="502920" y="1143000"/>
            <a:ext cx="11338560" cy="365760"/>
          </a:xfrm>
          <a:prstGeom prst="rect">
            <a:avLst/>
          </a:prstGeom>
          <a:noFill/>
        </p:spPr>
        <p:txBody>
          <a:bodyPr wrap="square">
            <a:spAutoFit/>
          </a:bodyPr>
          <a:lstStyle/>
          <a:p>
            <a:r>
              <a:rPr sz="1400" b="0" i="1">
                <a:solidFill>
                  <a:srgbClr val="6B4DE6"/>
                </a:solidFill>
                <a:latin typeface="Calibri"/>
              </a:rPr>
              <a:t>Q13 — Firebase</a:t>
            </a:r>
          </a:p>
        </p:txBody>
      </p:sp>
      <p:cxnSp>
        <p:nvCxnSpPr>
          <p:cNvPr id="6" name="Connector 5"/>
          <p:cNvCxnSpPr/>
          <p:nvPr/>
        </p:nvCxnSpPr>
        <p:spPr>
          <a:xfrm>
            <a:off x="502920" y="1527048"/>
            <a:ext cx="11183112"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691640"/>
            <a:ext cx="11183112" cy="2146300"/>
          </a:xfrm>
          <a:prstGeom prst="rect">
            <a:avLst/>
          </a:prstGeom>
          <a:noFill/>
        </p:spPr>
        <p:txBody>
          <a:bodyPr wrap="square">
            <a:spAutoFit/>
          </a:bodyPr>
          <a:lstStyle/>
          <a:p>
            <a:pPr algn="l">
              <a:spcAft>
                <a:spcPts val="600"/>
              </a:spcAft>
            </a:pPr>
            <a:r>
              <a:rPr sz="1800">
                <a:solidFill>
                  <a:srgbClr val="1F2129"/>
                </a:solidFill>
                <a:latin typeface="Calibri"/>
              </a:rPr>
              <a:t>When you sign in the app asks for permission to send notifications</a:t>
            </a:r>
          </a:p>
          <a:p>
            <a:pPr algn="l">
              <a:spcAft>
                <a:spcPts val="600"/>
              </a:spcAft>
            </a:pPr>
            <a:r>
              <a:rPr sz="1800">
                <a:solidFill>
                  <a:srgbClr val="1F2129"/>
                </a:solidFill>
                <a:latin typeface="Calibri"/>
              </a:rPr>
              <a:t>It saves a unique token for your phone in your user profile</a:t>
            </a:r>
          </a:p>
          <a:p>
            <a:pPr algn="l">
              <a:spcAft>
                <a:spcPts val="600"/>
              </a:spcAft>
            </a:pPr>
            <a:r>
              <a:rPr sz="1800">
                <a:solidFill>
                  <a:srgbClr val="1F2129"/>
                </a:solidFill>
                <a:latin typeface="Calibri"/>
              </a:rPr>
              <a:t>If you get a new phone or the token changes, it updates automatically</a:t>
            </a:r>
          </a:p>
          <a:p>
            <a:pPr algn="l">
              <a:spcAft>
                <a:spcPts val="600"/>
              </a:spcAft>
            </a:pPr>
            <a:r>
              <a:rPr sz="1800">
                <a:solidFill>
                  <a:srgbClr val="1F2129"/>
                </a:solidFill>
                <a:latin typeface="Calibri"/>
              </a:rPr>
              <a:t>Notifications show up as a little message at the bottom of the screen when you're using the app</a:t>
            </a:r>
          </a:p>
          <a:p>
            <a:pPr algn="l">
              <a:spcAft>
                <a:spcPts val="600"/>
              </a:spcAft>
            </a:pPr>
            <a:r>
              <a:rPr sz="1800">
                <a:solidFill>
                  <a:srgbClr val="1F2129"/>
                </a:solidFill>
                <a:latin typeface="Calibri"/>
              </a:rPr>
              <a:t>Even if the app is closed, the phone can still wake up and show the message</a:t>
            </a:r>
          </a:p>
          <a:p>
            <a:pPr algn="l">
              <a:spcAft>
                <a:spcPts val="600"/>
              </a:spcAft>
            </a:pPr>
            <a:r>
              <a:rPr sz="1800">
                <a:solidFill>
                  <a:srgbClr val="1F2129"/>
                </a:solidFill>
                <a:latin typeface="Calibri"/>
              </a:rPr>
              <a:t>When you sign out, your token is removed so you stop getting the previous person's notifications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B4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338560" cy="822960"/>
          </a:xfrm>
          <a:prstGeom prst="rect">
            <a:avLst/>
          </a:prstGeom>
          <a:noFill/>
        </p:spPr>
        <p:txBody>
          <a:bodyPr wrap="square">
            <a:spAutoFit/>
          </a:bodyPr>
          <a:lstStyle/>
          <a:p>
            <a:r>
              <a:rPr sz="3400" b="1">
                <a:solidFill>
                  <a:srgbClr val="1F2129"/>
                </a:solidFill>
                <a:latin typeface="Calibri"/>
              </a:rPr>
              <a:t>Voting twice didn't zero the score (fixed with a transaction)</a:t>
            </a:r>
          </a:p>
        </p:txBody>
      </p:sp>
      <p:sp>
        <p:nvSpPr>
          <p:cNvPr id="5" name="TextBox 4"/>
          <p:cNvSpPr txBox="1"/>
          <p:nvPr/>
        </p:nvSpPr>
        <p:spPr>
          <a:xfrm>
            <a:off x="502920" y="1143000"/>
            <a:ext cx="11338560" cy="365760"/>
          </a:xfrm>
          <a:prstGeom prst="rect">
            <a:avLst/>
          </a:prstGeom>
          <a:noFill/>
        </p:spPr>
        <p:txBody>
          <a:bodyPr wrap="square">
            <a:spAutoFit/>
          </a:bodyPr>
          <a:lstStyle/>
          <a:p>
            <a:r>
              <a:rPr sz="1400" b="0" i="1">
                <a:solidFill>
                  <a:srgbClr val="6B4DE6"/>
                </a:solidFill>
                <a:latin typeface="Calibri"/>
              </a:rPr>
              <a:t>Q3 — Implementation (sync)</a:t>
            </a:r>
          </a:p>
        </p:txBody>
      </p:sp>
      <p:cxnSp>
        <p:nvCxnSpPr>
          <p:cNvPr id="6" name="Connector 5"/>
          <p:cNvCxnSpPr/>
          <p:nvPr/>
        </p:nvCxnSpPr>
        <p:spPr>
          <a:xfrm>
            <a:off x="502920" y="1527048"/>
            <a:ext cx="11183112"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pic>
        <p:nvPicPr>
          <p:cNvPr id="7" name="Picture 6" descr="30_session_with_queue.png"/>
          <p:cNvPicPr>
            <a:picLocks noChangeAspect="1"/>
          </p:cNvPicPr>
          <p:nvPr/>
        </p:nvPicPr>
        <p:blipFill>
          <a:blip r:embed="rId2"/>
          <a:stretch>
            <a:fillRect/>
          </a:stretch>
        </p:blipFill>
        <p:spPr>
          <a:xfrm>
            <a:off x="9523600" y="1691640"/>
            <a:ext cx="2162432" cy="4572000"/>
          </a:xfrm>
          <a:prstGeom prst="rect">
            <a:avLst/>
          </a:prstGeom>
        </p:spPr>
      </p:pic>
      <p:sp>
        <p:nvSpPr>
          <p:cNvPr id="8" name="TextBox 7"/>
          <p:cNvSpPr txBox="1"/>
          <p:nvPr/>
        </p:nvSpPr>
        <p:spPr>
          <a:xfrm>
            <a:off x="502920" y="1691640"/>
            <a:ext cx="8837800" cy="1155700"/>
          </a:xfrm>
          <a:prstGeom prst="rect">
            <a:avLst/>
          </a:prstGeom>
          <a:noFill/>
        </p:spPr>
        <p:txBody>
          <a:bodyPr wrap="square">
            <a:spAutoFit/>
          </a:bodyPr>
          <a:lstStyle/>
          <a:p>
            <a:pPr algn="l">
              <a:spcAft>
                <a:spcPts val="600"/>
              </a:spcAft>
            </a:pPr>
            <a:r>
              <a:rPr sz="1800">
                <a:solidFill>
                  <a:srgbClr val="1F2129"/>
                </a:solidFill>
                <a:latin typeface="Calibri"/>
              </a:rPr>
              <a:t>Early bug: tapping upvote twice looked correct but the score stayed at 1 in the database</a:t>
            </a:r>
          </a:p>
          <a:p>
            <a:pPr algn="l">
              <a:spcAft>
                <a:spcPts val="600"/>
              </a:spcAft>
            </a:pPr>
            <a:r>
              <a:rPr sz="1800">
                <a:solidFill>
                  <a:srgbClr val="1F2129"/>
                </a:solidFill>
                <a:latin typeface="Calibri"/>
              </a:rPr>
              <a:t>Cause: clearing a vote with votes[uid] = null didn't remove the key in real Firestore</a:t>
            </a:r>
          </a:p>
          <a:p>
            <a:pPr algn="l">
              <a:spcAft>
                <a:spcPts val="600"/>
              </a:spcAft>
            </a:pPr>
            <a:r>
              <a:rPr sz="1800">
                <a:solidFill>
                  <a:srgbClr val="1F2129"/>
                </a:solidFill>
                <a:latin typeface="Calibri"/>
              </a:rPr>
              <a:t>Fix: use FieldValue.delete() inside a transaction — vote, score, and counters update atomically</a:t>
            </a:r>
          </a:p>
        </p:txBody>
      </p:sp>
      <p:sp>
        <p:nvSpPr>
          <p:cNvPr id="9" name="Rounded Rectangle 8"/>
          <p:cNvSpPr/>
          <p:nvPr/>
        </p:nvSpPr>
        <p:spPr>
          <a:xfrm>
            <a:off x="502920" y="2893060"/>
            <a:ext cx="8837800" cy="1417320"/>
          </a:xfrm>
          <a:prstGeom prst="roundRect">
            <a:avLst>
              <a:gd name="adj" fmla="val 4000"/>
            </a:avLst>
          </a:prstGeom>
          <a:solidFill>
            <a:srgbClr val="F1F2F6"/>
          </a:solidFill>
          <a:ln w="63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none" lIns="164592" rIns="164592" tIns="73152" bIns="73152"/>
          <a:lstStyle/>
          <a:p>
            <a:pPr algn="l">
              <a:spcAft>
                <a:spcPts val="0"/>
              </a:spcAft>
            </a:pPr>
            <a:r>
              <a:rPr sz="1300">
                <a:solidFill>
                  <a:srgbClr val="1F2129"/>
                </a:solidFill>
                <a:latin typeface="Consolas"/>
              </a:rPr>
              <a:t>if (effectiveVote == 0) {</a:t>
            </a:r>
          </a:p>
          <a:p>
            <a:pPr algn="l">
              <a:spcAft>
                <a:spcPts val="0"/>
              </a:spcAft>
            </a:pPr>
            <a:r>
              <a:rPr sz="1300">
                <a:solidFill>
                  <a:srgbClr val="1F2129"/>
                </a:solidFill>
                <a:latin typeface="Consolas"/>
              </a:rPr>
              <a:t>  updates['votes.$uid'] = FieldValue.delete();</a:t>
            </a:r>
          </a:p>
          <a:p>
            <a:pPr algn="l">
              <a:spcAft>
                <a:spcPts val="0"/>
              </a:spcAft>
            </a:pPr>
            <a:r>
              <a:rPr sz="1300">
                <a:solidFill>
                  <a:srgbClr val="1F2129"/>
                </a:solidFill>
                <a:latin typeface="Consolas"/>
              </a:rPr>
              <a:t>} else {</a:t>
            </a:r>
          </a:p>
          <a:p>
            <a:pPr algn="l">
              <a:spcAft>
                <a:spcPts val="0"/>
              </a:spcAft>
            </a:pPr>
            <a:r>
              <a:rPr sz="1300">
                <a:solidFill>
                  <a:srgbClr val="1F2129"/>
                </a:solidFill>
                <a:latin typeface="Consolas"/>
              </a:rPr>
              <a:t>  updates['votes.$uid'] = effectiveVote;</a:t>
            </a:r>
          </a:p>
          <a:p>
            <a:pPr algn="l">
              <a:spcAft>
                <a:spcPts val="0"/>
              </a:spcAft>
            </a:pPr>
            <a:r>
              <a:rPr sz="1300">
                <a:solidFill>
                  <a:srgbClr val="1F2129"/>
                </a:solidFill>
                <a:latin typeface="Consolas"/>
              </a:rPr>
              <a:t>}</a:t>
            </a:r>
          </a:p>
          <a:p>
            <a:pPr algn="l">
              <a:spcAft>
                <a:spcPts val="0"/>
              </a:spcAft>
            </a:pPr>
            <a:r>
              <a:rPr sz="1300">
                <a:solidFill>
                  <a:srgbClr val="1F2129"/>
                </a:solidFill>
                <a:latin typeface="Consolas"/>
              </a:rPr>
              <a:t>tx.update(trackRef, updates);</a:t>
            </a:r>
          </a:p>
        </p:txBody>
      </p:sp>
      <p:sp>
        <p:nvSpPr>
          <p:cNvPr id="10" name="TextBox 9"/>
          <p:cNvSpPr txBox="1"/>
          <p:nvPr/>
        </p:nvSpPr>
        <p:spPr>
          <a:xfrm>
            <a:off x="502920" y="4447540"/>
            <a:ext cx="8837800" cy="495300"/>
          </a:xfrm>
          <a:prstGeom prst="rect">
            <a:avLst/>
          </a:prstGeom>
          <a:noFill/>
        </p:spPr>
        <p:txBody>
          <a:bodyPr wrap="square">
            <a:spAutoFit/>
          </a:bodyPr>
          <a:lstStyle/>
          <a:p>
            <a:pPr algn="l">
              <a:spcAft>
                <a:spcPts val="600"/>
              </a:spcAft>
            </a:pPr>
            <a:r>
              <a:rPr sz="1800">
                <a:solidFill>
                  <a:srgbClr val="1F2129"/>
                </a:solidFill>
                <a:latin typeface="Calibri"/>
              </a:rPr>
              <a:t>Locked in by a unit test so it can't regress.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B4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338560" cy="822960"/>
          </a:xfrm>
          <a:prstGeom prst="rect">
            <a:avLst/>
          </a:prstGeom>
          <a:noFill/>
        </p:spPr>
        <p:txBody>
          <a:bodyPr wrap="square">
            <a:spAutoFit/>
          </a:bodyPr>
          <a:lstStyle/>
          <a:p>
            <a:r>
              <a:rPr sz="3400" b="1">
                <a:solidFill>
                  <a:srgbClr val="1F2129"/>
                </a:solidFill>
                <a:latin typeface="Calibri"/>
              </a:rPr>
              <a:t>When the Spotify search fails, the app still works</a:t>
            </a:r>
          </a:p>
        </p:txBody>
      </p:sp>
      <p:sp>
        <p:nvSpPr>
          <p:cNvPr id="5" name="TextBox 4"/>
          <p:cNvSpPr txBox="1"/>
          <p:nvPr/>
        </p:nvSpPr>
        <p:spPr>
          <a:xfrm>
            <a:off x="502920" y="1143000"/>
            <a:ext cx="11338560" cy="365760"/>
          </a:xfrm>
          <a:prstGeom prst="rect">
            <a:avLst/>
          </a:prstGeom>
          <a:noFill/>
        </p:spPr>
        <p:txBody>
          <a:bodyPr wrap="square">
            <a:spAutoFit/>
          </a:bodyPr>
          <a:lstStyle/>
          <a:p>
            <a:r>
              <a:rPr sz="1400" b="0" i="1">
                <a:solidFill>
                  <a:srgbClr val="6B4DE6"/>
                </a:solidFill>
                <a:latin typeface="Calibri"/>
              </a:rPr>
              <a:t>Q7 + Q2 — Testing + Implementation (rework)</a:t>
            </a:r>
          </a:p>
        </p:txBody>
      </p:sp>
      <p:cxnSp>
        <p:nvCxnSpPr>
          <p:cNvPr id="6" name="Connector 5"/>
          <p:cNvCxnSpPr/>
          <p:nvPr/>
        </p:nvCxnSpPr>
        <p:spPr>
          <a:xfrm>
            <a:off x="502920" y="1527048"/>
            <a:ext cx="11183112"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pic>
        <p:nvPicPr>
          <p:cNvPr id="7" name="Picture 6" descr="31_add_track_drake.png"/>
          <p:cNvPicPr>
            <a:picLocks noChangeAspect="1"/>
          </p:cNvPicPr>
          <p:nvPr/>
        </p:nvPicPr>
        <p:blipFill>
          <a:blip r:embed="rId2"/>
          <a:stretch>
            <a:fillRect/>
          </a:stretch>
        </p:blipFill>
        <p:spPr>
          <a:xfrm>
            <a:off x="9523600" y="1691640"/>
            <a:ext cx="2162432" cy="4572000"/>
          </a:xfrm>
          <a:prstGeom prst="rect">
            <a:avLst/>
          </a:prstGeom>
        </p:spPr>
      </p:pic>
      <p:sp>
        <p:nvSpPr>
          <p:cNvPr id="8" name="TextBox 7"/>
          <p:cNvSpPr txBox="1"/>
          <p:nvPr/>
        </p:nvSpPr>
        <p:spPr>
          <a:xfrm>
            <a:off x="502920" y="1691640"/>
            <a:ext cx="8837800" cy="1485900"/>
          </a:xfrm>
          <a:prstGeom prst="rect">
            <a:avLst/>
          </a:prstGeom>
          <a:noFill/>
        </p:spPr>
        <p:txBody>
          <a:bodyPr wrap="square">
            <a:spAutoFit/>
          </a:bodyPr>
          <a:lstStyle/>
          <a:p>
            <a:pPr algn="l">
              <a:spcAft>
                <a:spcPts val="600"/>
              </a:spcAft>
            </a:pPr>
            <a:r>
              <a:rPr sz="1800">
                <a:solidFill>
                  <a:srgbClr val="1F2129"/>
                </a:solidFill>
                <a:latin typeface="Calibri"/>
              </a:rPr>
              <a:t>The app calls a Cloud Function to search Spotify (secret stays safe on the server)</a:t>
            </a:r>
          </a:p>
          <a:p>
            <a:pPr algn="l">
              <a:spcAft>
                <a:spcPts val="600"/>
              </a:spcAft>
            </a:pPr>
            <a:r>
              <a:rPr sz="1800">
                <a:solidFill>
                  <a:srgbClr val="1F2129"/>
                </a:solidFill>
                <a:latin typeface="Calibri"/>
              </a:rPr>
              <a:t>If the function fails, the app falls back to a built-in list instead of showing nothing</a:t>
            </a:r>
          </a:p>
          <a:p>
            <a:pPr algn="l">
              <a:spcAft>
                <a:spcPts val="600"/>
              </a:spcAft>
            </a:pPr>
            <a:r>
              <a:rPr sz="1800">
                <a:solidFill>
                  <a:srgbClr val="1F2129"/>
                </a:solidFill>
                <a:latin typeface="Calibri"/>
              </a:rPr>
              <a:t>Add Track no longer auto-searches when you open it — you type first</a:t>
            </a:r>
          </a:p>
          <a:p>
            <a:pPr algn="l">
              <a:spcAft>
                <a:spcPts val="600"/>
              </a:spcAft>
            </a:pPr>
            <a:r>
              <a:rPr sz="1800">
                <a:solidFill>
                  <a:srgbClr val="1F2129"/>
                </a:solidFill>
                <a:latin typeface="Calibri"/>
              </a:rPr>
              <a:t>Saves server calls and feels faster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B4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338560" cy="822960"/>
          </a:xfrm>
          <a:prstGeom prst="rect">
            <a:avLst/>
          </a:prstGeom>
          <a:noFill/>
        </p:spPr>
        <p:txBody>
          <a:bodyPr wrap="square">
            <a:spAutoFit/>
          </a:bodyPr>
          <a:lstStyle/>
          <a:p>
            <a:r>
              <a:rPr sz="3400" b="1">
                <a:solidFill>
                  <a:srgbClr val="1F2129"/>
                </a:solidFill>
                <a:latin typeface="Calibri"/>
              </a:rPr>
              <a:t>Sign-in errors are friendly and safe</a:t>
            </a:r>
          </a:p>
        </p:txBody>
      </p:sp>
      <p:sp>
        <p:nvSpPr>
          <p:cNvPr id="5" name="TextBox 4"/>
          <p:cNvSpPr txBox="1"/>
          <p:nvPr/>
        </p:nvSpPr>
        <p:spPr>
          <a:xfrm>
            <a:off x="502920" y="1143000"/>
            <a:ext cx="11338560" cy="365760"/>
          </a:xfrm>
          <a:prstGeom prst="rect">
            <a:avLst/>
          </a:prstGeom>
          <a:noFill/>
        </p:spPr>
        <p:txBody>
          <a:bodyPr wrap="square">
            <a:spAutoFit/>
          </a:bodyPr>
          <a:lstStyle/>
          <a:p>
            <a:r>
              <a:rPr sz="1400" b="0" i="1">
                <a:solidFill>
                  <a:srgbClr val="6B4DE6"/>
                </a:solidFill>
                <a:latin typeface="Calibri"/>
              </a:rPr>
              <a:t>Q8 — Testing</a:t>
            </a:r>
          </a:p>
        </p:txBody>
      </p:sp>
      <p:cxnSp>
        <p:nvCxnSpPr>
          <p:cNvPr id="6" name="Connector 5"/>
          <p:cNvCxnSpPr/>
          <p:nvPr/>
        </p:nvCxnSpPr>
        <p:spPr>
          <a:xfrm>
            <a:off x="502920" y="1527048"/>
            <a:ext cx="11183112"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pic>
        <p:nvPicPr>
          <p:cNvPr id="7" name="Picture 6" descr="10_signin.png"/>
          <p:cNvPicPr>
            <a:picLocks noChangeAspect="1"/>
          </p:cNvPicPr>
          <p:nvPr/>
        </p:nvPicPr>
        <p:blipFill>
          <a:blip r:embed="rId2"/>
          <a:stretch>
            <a:fillRect/>
          </a:stretch>
        </p:blipFill>
        <p:spPr>
          <a:xfrm>
            <a:off x="9523600" y="1691640"/>
            <a:ext cx="2162432" cy="4572000"/>
          </a:xfrm>
          <a:prstGeom prst="rect">
            <a:avLst/>
          </a:prstGeom>
        </p:spPr>
      </p:pic>
      <p:sp>
        <p:nvSpPr>
          <p:cNvPr id="8" name="TextBox 7"/>
          <p:cNvSpPr txBox="1"/>
          <p:nvPr/>
        </p:nvSpPr>
        <p:spPr>
          <a:xfrm>
            <a:off x="502920" y="1691640"/>
            <a:ext cx="8837800" cy="1816100"/>
          </a:xfrm>
          <a:prstGeom prst="rect">
            <a:avLst/>
          </a:prstGeom>
          <a:noFill/>
        </p:spPr>
        <p:txBody>
          <a:bodyPr wrap="square">
            <a:spAutoFit/>
          </a:bodyPr>
          <a:lstStyle/>
          <a:p>
            <a:pPr algn="l">
              <a:spcAft>
                <a:spcPts val="600"/>
              </a:spcAft>
            </a:pPr>
            <a:r>
              <a:rPr sz="1800">
                <a:solidFill>
                  <a:srgbClr val="1F2129"/>
                </a:solidFill>
                <a:latin typeface="Calibri"/>
              </a:rPr>
              <a:t>Instead of technical messages like 'user-not-found' or 'wrong-password', the app shows one line:</a:t>
            </a:r>
          </a:p>
          <a:p>
            <a:pPr algn="l">
              <a:spcAft>
                <a:spcPts val="600"/>
              </a:spcAft>
            </a:pPr>
            <a:r>
              <a:rPr sz="1800">
                <a:solidFill>
                  <a:srgbClr val="1F2129"/>
                </a:solidFill>
                <a:latin typeface="Calibri"/>
              </a:rPr>
              <a:t>'Email or password is incorrect.'</a:t>
            </a:r>
          </a:p>
          <a:p>
            <a:pPr algn="l">
              <a:spcAft>
                <a:spcPts val="600"/>
              </a:spcAft>
            </a:pPr>
          </a:p>
          <a:p>
            <a:pPr algn="l">
              <a:spcAft>
                <a:spcPts val="600"/>
              </a:spcAft>
            </a:pPr>
            <a:r>
              <a:rPr sz="1800">
                <a:solidFill>
                  <a:srgbClr val="1F2129"/>
                </a:solidFill>
                <a:latin typeface="Calibri"/>
              </a:rPr>
              <a:t>Deliberate — it stops anyone from figuring out which emails have accounts (security best practice).</a:t>
            </a:r>
          </a:p>
          <a:p>
            <a:pPr algn="l">
              <a:spcAft>
                <a:spcPts val="600"/>
              </a:spcAft>
            </a:pPr>
            <a:r>
              <a:rPr sz="1800">
                <a:solidFill>
                  <a:srgbClr val="1F2129"/>
                </a:solidFill>
                <a:latin typeface="Calibri"/>
              </a:rPr>
              <a:t>11 automated tests guarantee the friendly message can never leak technical details.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B4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338560" cy="822960"/>
          </a:xfrm>
          <a:prstGeom prst="rect">
            <a:avLst/>
          </a:prstGeom>
          <a:noFill/>
        </p:spPr>
        <p:txBody>
          <a:bodyPr wrap="square">
            <a:spAutoFit/>
          </a:bodyPr>
          <a:lstStyle/>
          <a:p>
            <a:r>
              <a:rPr sz="3400" b="1">
                <a:solidFill>
                  <a:srgbClr val="1F2129"/>
                </a:solidFill>
                <a:latin typeface="Calibri"/>
              </a:rPr>
              <a:t>Performance: the home screen used to spin forever</a:t>
            </a:r>
          </a:p>
        </p:txBody>
      </p:sp>
      <p:sp>
        <p:nvSpPr>
          <p:cNvPr id="5" name="TextBox 4"/>
          <p:cNvSpPr txBox="1"/>
          <p:nvPr/>
        </p:nvSpPr>
        <p:spPr>
          <a:xfrm>
            <a:off x="502920" y="1143000"/>
            <a:ext cx="11338560" cy="365760"/>
          </a:xfrm>
          <a:prstGeom prst="rect">
            <a:avLst/>
          </a:prstGeom>
          <a:noFill/>
        </p:spPr>
        <p:txBody>
          <a:bodyPr wrap="square">
            <a:spAutoFit/>
          </a:bodyPr>
          <a:lstStyle/>
          <a:p>
            <a:r>
              <a:rPr sz="1400" b="0" i="1">
                <a:solidFill>
                  <a:srgbClr val="6B4DE6"/>
                </a:solidFill>
                <a:latin typeface="Calibri"/>
              </a:rPr>
              <a:t>Q9 — Testing</a:t>
            </a:r>
          </a:p>
        </p:txBody>
      </p:sp>
      <p:cxnSp>
        <p:nvCxnSpPr>
          <p:cNvPr id="6" name="Connector 5"/>
          <p:cNvCxnSpPr/>
          <p:nvPr/>
        </p:nvCxnSpPr>
        <p:spPr>
          <a:xfrm>
            <a:off x="502920" y="1527048"/>
            <a:ext cx="11183112"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691640"/>
            <a:ext cx="11183112" cy="2476500"/>
          </a:xfrm>
          <a:prstGeom prst="rect">
            <a:avLst/>
          </a:prstGeom>
          <a:noFill/>
        </p:spPr>
        <p:txBody>
          <a:bodyPr wrap="square">
            <a:spAutoFit/>
          </a:bodyPr>
          <a:lstStyle/>
          <a:p>
            <a:pPr algn="l">
              <a:spcAft>
                <a:spcPts val="600"/>
              </a:spcAft>
            </a:pPr>
            <a:r>
              <a:rPr sz="1800">
                <a:solidFill>
                  <a:srgbClr val="1F2129"/>
                </a:solidFill>
                <a:latin typeface="Calibri"/>
              </a:rPr>
              <a:t>After adding the join-by-code feature, the home screen would show a loading spinner and never finish</a:t>
            </a:r>
          </a:p>
          <a:p>
            <a:pPr algn="l">
              <a:spcAft>
                <a:spcPts val="600"/>
              </a:spcAft>
            </a:pPr>
            <a:r>
              <a:rPr sz="1800">
                <a:solidFill>
                  <a:srgbClr val="1F2129"/>
                </a:solidFill>
                <a:latin typeface="Calibri"/>
              </a:rPr>
              <a:t>The phone logs told me exactly why: 'The query requires an index'</a:t>
            </a:r>
          </a:p>
          <a:p>
            <a:pPr algn="l">
              <a:spcAft>
                <a:spcPts val="600"/>
              </a:spcAft>
            </a:pPr>
            <a:r>
              <a:rPr sz="1800">
                <a:solidFill>
                  <a:srgbClr val="1F2129"/>
                </a:solidFill>
                <a:latin typeface="Calibri"/>
              </a:rPr>
              <a:t>I added the missing index to a file called firestore.indexes.json and redeployed</a:t>
            </a:r>
          </a:p>
          <a:p>
            <a:pPr algn="l">
              <a:spcAft>
                <a:spcPts val="600"/>
              </a:spcAft>
            </a:pPr>
            <a:r>
              <a:rPr sz="1800">
                <a:solidFill>
                  <a:srgbClr val="1F2129"/>
                </a:solidFill>
                <a:latin typeface="Calibri"/>
              </a:rPr>
              <a:t>The list now loads in under 200 milliseconds on both phones</a:t>
            </a:r>
          </a:p>
          <a:p>
            <a:pPr algn="l">
              <a:spcAft>
                <a:spcPts val="600"/>
              </a:spcAft>
            </a:pPr>
            <a:r>
              <a:rPr sz="1800">
                <a:solidFill>
                  <a:srgbClr val="1F2129"/>
                </a:solidFill>
                <a:latin typeface="Calibri"/>
              </a:rPr>
              <a:t>The same fix was needed later for the playlist view once we started hiding already-played songs</a:t>
            </a:r>
          </a:p>
          <a:p>
            <a:pPr algn="l">
              <a:spcAft>
                <a:spcPts val="600"/>
              </a:spcAft>
            </a:pPr>
          </a:p>
          <a:p>
            <a:pPr algn="l">
              <a:spcAft>
                <a:spcPts val="600"/>
              </a:spcAft>
            </a:pPr>
            <a:r>
              <a:rPr sz="1800">
                <a:solidFill>
                  <a:srgbClr val="1F2129"/>
                </a:solidFill>
                <a:latin typeface="Calibri"/>
              </a:rPr>
              <a:t>Lesson: when something is slow, look at the server logs first, not just the phone screen.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B4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338560" cy="822960"/>
          </a:xfrm>
          <a:prstGeom prst="rect">
            <a:avLst/>
          </a:prstGeom>
          <a:noFill/>
        </p:spPr>
        <p:txBody>
          <a:bodyPr wrap="square">
            <a:spAutoFit/>
          </a:bodyPr>
          <a:lstStyle/>
          <a:p>
            <a:r>
              <a:rPr sz="3400" b="1">
                <a:solidFill>
                  <a:srgbClr val="1F2129"/>
                </a:solidFill>
                <a:latin typeface="Calibri"/>
              </a:rPr>
              <a:t>The AI song suggester + fairness ranking</a:t>
            </a:r>
          </a:p>
        </p:txBody>
      </p:sp>
      <p:sp>
        <p:nvSpPr>
          <p:cNvPr id="5" name="TextBox 4"/>
          <p:cNvSpPr txBox="1"/>
          <p:nvPr/>
        </p:nvSpPr>
        <p:spPr>
          <a:xfrm>
            <a:off x="502920" y="1143000"/>
            <a:ext cx="11338560" cy="365760"/>
          </a:xfrm>
          <a:prstGeom prst="rect">
            <a:avLst/>
          </a:prstGeom>
          <a:noFill/>
        </p:spPr>
        <p:txBody>
          <a:bodyPr wrap="square">
            <a:spAutoFit/>
          </a:bodyPr>
          <a:lstStyle/>
          <a:p>
            <a:r>
              <a:rPr sz="1400" b="0" i="1">
                <a:solidFill>
                  <a:srgbClr val="6B4DE6"/>
                </a:solidFill>
                <a:latin typeface="Calibri"/>
              </a:rPr>
              <a:t>Graduate extension (supports Q1)</a:t>
            </a:r>
          </a:p>
        </p:txBody>
      </p:sp>
      <p:cxnSp>
        <p:nvCxnSpPr>
          <p:cNvPr id="6" name="Connector 5"/>
          <p:cNvCxnSpPr/>
          <p:nvPr/>
        </p:nvCxnSpPr>
        <p:spPr>
          <a:xfrm>
            <a:off x="502920" y="1527048"/>
            <a:ext cx="11183112"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pic>
        <p:nvPicPr>
          <p:cNvPr id="7" name="Picture 6" descr="50_suggestions_with_why.png"/>
          <p:cNvPicPr>
            <a:picLocks noChangeAspect="1"/>
          </p:cNvPicPr>
          <p:nvPr/>
        </p:nvPicPr>
        <p:blipFill>
          <a:blip r:embed="rId2"/>
          <a:stretch>
            <a:fillRect/>
          </a:stretch>
        </p:blipFill>
        <p:spPr>
          <a:xfrm>
            <a:off x="9523600" y="1691640"/>
            <a:ext cx="2162432" cy="4572000"/>
          </a:xfrm>
          <a:prstGeom prst="rect">
            <a:avLst/>
          </a:prstGeom>
        </p:spPr>
      </p:pic>
      <p:sp>
        <p:nvSpPr>
          <p:cNvPr id="8" name="TextBox 7"/>
          <p:cNvSpPr txBox="1"/>
          <p:nvPr/>
        </p:nvSpPr>
        <p:spPr>
          <a:xfrm>
            <a:off x="502920" y="1691640"/>
            <a:ext cx="8837800" cy="3136900"/>
          </a:xfrm>
          <a:prstGeom prst="rect">
            <a:avLst/>
          </a:prstGeom>
          <a:noFill/>
        </p:spPr>
        <p:txBody>
          <a:bodyPr wrap="square">
            <a:spAutoFit/>
          </a:bodyPr>
          <a:lstStyle/>
          <a:p>
            <a:pPr algn="l">
              <a:spcAft>
                <a:spcPts val="600"/>
              </a:spcAft>
            </a:pPr>
            <a:r>
              <a:rPr sz="1800">
                <a:solidFill>
                  <a:srgbClr val="1F2129"/>
                </a:solidFill>
                <a:latin typeface="Calibri"/>
              </a:rPr>
              <a:t>Suggests the next three songs using simple rules — no black-box AI:</a:t>
            </a:r>
          </a:p>
          <a:p>
            <a:pPr algn="l">
              <a:spcAft>
                <a:spcPts val="600"/>
              </a:spcAft>
            </a:pPr>
            <a:r>
              <a:rPr sz="1800">
                <a:solidFill>
                  <a:srgbClr val="1F2129"/>
                </a:solidFill>
                <a:latin typeface="Calibri"/>
              </a:rPr>
              <a:t>   • Does it match the room's current mood?</a:t>
            </a:r>
          </a:p>
          <a:p>
            <a:pPr algn="l">
              <a:spcAft>
                <a:spcPts val="600"/>
              </a:spcAft>
            </a:pPr>
            <a:r>
              <a:rPr sz="1800">
                <a:solidFill>
                  <a:srgbClr val="1F2129"/>
                </a:solidFill>
                <a:latin typeface="Calibri"/>
              </a:rPr>
              <a:t>   • Does it fit what people usually like?</a:t>
            </a:r>
          </a:p>
          <a:p>
            <a:pPr algn="l">
              <a:spcAft>
                <a:spcPts val="600"/>
              </a:spcAft>
            </a:pPr>
            <a:r>
              <a:rPr sz="1800">
                <a:solidFill>
                  <a:srgbClr val="1F2129"/>
                </a:solidFill>
                <a:latin typeface="Calibri"/>
              </a:rPr>
              <a:t>   • Has the same artist played too much?</a:t>
            </a:r>
          </a:p>
          <a:p>
            <a:pPr algn="l">
              <a:spcAft>
                <a:spcPts val="600"/>
              </a:spcAft>
            </a:pPr>
            <a:r>
              <a:rPr sz="1800">
                <a:solidFill>
                  <a:srgbClr val="1F2129"/>
                </a:solidFill>
                <a:latin typeface="Calibri"/>
              </a:rPr>
              <a:t>   • Was it played recently?</a:t>
            </a:r>
          </a:p>
          <a:p>
            <a:pPr algn="l">
              <a:spcAft>
                <a:spcPts val="600"/>
              </a:spcAft>
            </a:pPr>
          </a:p>
          <a:p>
            <a:pPr algn="l">
              <a:spcAft>
                <a:spcPts val="600"/>
              </a:spcAft>
            </a:pPr>
            <a:r>
              <a:rPr sz="1800">
                <a:solidFill>
                  <a:srgbClr val="1F2129"/>
                </a:solidFill>
                <a:latin typeface="Calibri"/>
              </a:rPr>
              <a:t>A 'fairness' step boosts songs from quieter members so they aren't drowned out.</a:t>
            </a:r>
          </a:p>
          <a:p>
            <a:pPr algn="l">
              <a:spcAft>
                <a:spcPts val="600"/>
              </a:spcAft>
            </a:pPr>
            <a:r>
              <a:rPr sz="1800">
                <a:solidFill>
                  <a:srgbClr val="1F2129"/>
                </a:solidFill>
                <a:latin typeface="Calibri"/>
              </a:rPr>
              <a:t>Every pick shows its reasoning (see right) so the group can trust it.</a:t>
            </a:r>
          </a:p>
          <a:p>
            <a:pPr algn="l">
              <a:spcAft>
                <a:spcPts val="600"/>
              </a:spcAft>
            </a:pPr>
            <a:r>
              <a:rPr sz="1800">
                <a:solidFill>
                  <a:srgbClr val="1F2129"/>
                </a:solidFill>
                <a:latin typeface="Calibri"/>
              </a:rPr>
              <a:t>Both fully tested so they can't break silently.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B4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338560" cy="822960"/>
          </a:xfrm>
          <a:prstGeom prst="rect">
            <a:avLst/>
          </a:prstGeom>
          <a:noFill/>
        </p:spPr>
        <p:txBody>
          <a:bodyPr wrap="square">
            <a:spAutoFit/>
          </a:bodyPr>
          <a:lstStyle/>
          <a:p>
            <a:r>
              <a:rPr sz="3400" b="1">
                <a:solidFill>
                  <a:srgbClr val="1F2129"/>
                </a:solidFill>
                <a:latin typeface="Calibri"/>
              </a:rPr>
              <a:t>Everything you need to check my work</a:t>
            </a:r>
          </a:p>
        </p:txBody>
      </p:sp>
      <p:sp>
        <p:nvSpPr>
          <p:cNvPr id="5" name="TextBox 4"/>
          <p:cNvSpPr txBox="1"/>
          <p:nvPr/>
        </p:nvSpPr>
        <p:spPr>
          <a:xfrm>
            <a:off x="502920" y="1143000"/>
            <a:ext cx="11338560" cy="365760"/>
          </a:xfrm>
          <a:prstGeom prst="rect">
            <a:avLst/>
          </a:prstGeom>
          <a:noFill/>
        </p:spPr>
        <p:txBody>
          <a:bodyPr wrap="square">
            <a:spAutoFit/>
          </a:bodyPr>
          <a:lstStyle/>
          <a:p>
            <a:r>
              <a:rPr sz="1400" b="0" i="1">
                <a:solidFill>
                  <a:srgbClr val="6B4DE6"/>
                </a:solidFill>
                <a:latin typeface="Calibri"/>
              </a:rPr>
              <a:t>Supports the rubric's Functionality &amp; Testing slice</a:t>
            </a:r>
          </a:p>
        </p:txBody>
      </p:sp>
      <p:cxnSp>
        <p:nvCxnSpPr>
          <p:cNvPr id="6" name="Connector 5"/>
          <p:cNvCxnSpPr/>
          <p:nvPr/>
        </p:nvCxnSpPr>
        <p:spPr>
          <a:xfrm>
            <a:off x="502920" y="1527048"/>
            <a:ext cx="11183112"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691640"/>
            <a:ext cx="11183112" cy="1816100"/>
          </a:xfrm>
          <a:prstGeom prst="rect">
            <a:avLst/>
          </a:prstGeom>
          <a:noFill/>
        </p:spPr>
        <p:txBody>
          <a:bodyPr wrap="square">
            <a:spAutoFit/>
          </a:bodyPr>
          <a:lstStyle/>
          <a:p>
            <a:pPr algn="l">
              <a:spcAft>
                <a:spcPts val="600"/>
              </a:spcAft>
            </a:pPr>
            <a:r>
              <a:rPr sz="1800">
                <a:solidFill>
                  <a:srgbClr val="1F2129"/>
                </a:solidFill>
                <a:latin typeface="Calibri"/>
              </a:rPr>
              <a:t>62 automated tests all pass — including tests for voting, the AI suggestions, the fairness ranking, and the Spotify fallback</a:t>
            </a:r>
          </a:p>
          <a:p>
            <a:pPr algn="l">
              <a:spcAft>
                <a:spcPts val="600"/>
              </a:spcAft>
            </a:pPr>
            <a:r>
              <a:rPr sz="1800">
                <a:solidFill>
                  <a:srgbClr val="1F2129"/>
                </a:solidFill>
                <a:latin typeface="Calibri"/>
              </a:rPr>
              <a:t>A bug log explains the six hardest problems I ran into and exactly how I fixed them</a:t>
            </a:r>
          </a:p>
          <a:p>
            <a:pPr algn="l">
              <a:spcAft>
                <a:spcPts val="600"/>
              </a:spcAft>
            </a:pPr>
            <a:r>
              <a:rPr sz="1800">
                <a:solidFill>
                  <a:srgbClr val="1F2129"/>
                </a:solidFill>
                <a:latin typeface="Calibri"/>
              </a:rPr>
              <a:t>The full answer key with code references is in CURATED_QUESTIONS.md</a:t>
            </a:r>
          </a:p>
          <a:p>
            <a:pPr algn="l">
              <a:spcAft>
                <a:spcPts val="600"/>
              </a:spcAft>
            </a:pPr>
            <a:r>
              <a:rPr sz="1800">
                <a:solidFill>
                  <a:srgbClr val="1F2129"/>
                </a:solidFill>
                <a:latin typeface="Calibri"/>
              </a:rPr>
              <a:t>A separate Word document with only the questions (as the rubric asks) is also included</a:t>
            </a:r>
          </a:p>
          <a:p>
            <a:pPr algn="l">
              <a:spcAft>
                <a:spcPts val="600"/>
              </a:spcAft>
            </a:pPr>
            <a:r>
              <a:rPr sz="1800">
                <a:solidFill>
                  <a:srgbClr val="1F2129"/>
                </a:solidFill>
                <a:latin typeface="Calibri"/>
              </a:rPr>
              <a:t>Screenshots from both phones and a signed release APK are in the submission folder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B4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338560" cy="822960"/>
          </a:xfrm>
          <a:prstGeom prst="rect">
            <a:avLst/>
          </a:prstGeom>
          <a:noFill/>
        </p:spPr>
        <p:txBody>
          <a:bodyPr wrap="square">
            <a:spAutoFit/>
          </a:bodyPr>
          <a:lstStyle/>
          <a:p>
            <a:r>
              <a:rPr sz="3400" b="1">
                <a:solidFill>
                  <a:srgbClr val="1F2129"/>
                </a:solidFill>
                <a:latin typeface="Calibri"/>
              </a:rPr>
              <a:t>If I started this project again from scratch</a:t>
            </a:r>
          </a:p>
        </p:txBody>
      </p:sp>
      <p:sp>
        <p:nvSpPr>
          <p:cNvPr id="5" name="TextBox 4"/>
          <p:cNvSpPr txBox="1"/>
          <p:nvPr/>
        </p:nvSpPr>
        <p:spPr>
          <a:xfrm>
            <a:off x="502920" y="1143000"/>
            <a:ext cx="11338560" cy="365760"/>
          </a:xfrm>
          <a:prstGeom prst="rect">
            <a:avLst/>
          </a:prstGeom>
          <a:noFill/>
        </p:spPr>
        <p:txBody>
          <a:bodyPr wrap="square">
            <a:spAutoFit/>
          </a:bodyPr>
          <a:lstStyle/>
          <a:p>
            <a:r>
              <a:rPr sz="1400" b="0" i="1">
                <a:solidFill>
                  <a:srgbClr val="6B4DE6"/>
                </a:solidFill>
                <a:latin typeface="Calibri"/>
              </a:rPr>
              <a:t>Q14 — Reflection</a:t>
            </a:r>
          </a:p>
        </p:txBody>
      </p:sp>
      <p:cxnSp>
        <p:nvCxnSpPr>
          <p:cNvPr id="6" name="Connector 5"/>
          <p:cNvCxnSpPr/>
          <p:nvPr/>
        </p:nvCxnSpPr>
        <p:spPr>
          <a:xfrm>
            <a:off x="502920" y="1527048"/>
            <a:ext cx="11183112"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691640"/>
            <a:ext cx="11183112" cy="2476500"/>
          </a:xfrm>
          <a:prstGeom prst="rect">
            <a:avLst/>
          </a:prstGeom>
          <a:noFill/>
        </p:spPr>
        <p:txBody>
          <a:bodyPr wrap="square">
            <a:spAutoFit/>
          </a:bodyPr>
          <a:lstStyle/>
          <a:p>
            <a:pPr algn="l">
              <a:spcAft>
                <a:spcPts val="600"/>
              </a:spcAft>
            </a:pPr>
            <a:r>
              <a:rPr sz="1800">
                <a:solidFill>
                  <a:srgbClr val="1F2129"/>
                </a:solidFill>
                <a:latin typeface="Calibri"/>
              </a:rPr>
              <a:t>I would do two things differently from day one:</a:t>
            </a:r>
          </a:p>
          <a:p>
            <a:pPr algn="l">
              <a:spcAft>
                <a:spcPts val="600"/>
              </a:spcAft>
            </a:pPr>
          </a:p>
          <a:p>
            <a:pPr algn="l">
              <a:spcAft>
                <a:spcPts val="600"/>
              </a:spcAft>
            </a:pPr>
            <a:r>
              <a:rPr sz="1800">
                <a:solidFill>
                  <a:srgbClr val="1F2129"/>
                </a:solidFill>
                <a:latin typeface="Calibri"/>
              </a:rPr>
              <a:t>1. Use the Firebase emulator tools right from the beginning so I could test security rules automatically instead of finding bugs only when two phones tried to join the same session</a:t>
            </a:r>
          </a:p>
          <a:p>
            <a:pPr algn="l">
              <a:spcAft>
                <a:spcPts val="600"/>
              </a:spcAft>
            </a:pPr>
          </a:p>
          <a:p>
            <a:pPr algn="l">
              <a:spcAft>
                <a:spcPts val="600"/>
              </a:spcAft>
            </a:pPr>
            <a:r>
              <a:rPr sz="1800">
                <a:solidFill>
                  <a:srgbClr val="1F2129"/>
                </a:solidFill>
                <a:latin typeface="Calibri"/>
              </a:rPr>
              <a:t>2. Have every change to the database go through a Cloud Function instead of letting the phone write directly. That would make the security rules much simpler and reduce the chance of mistakes.</a:t>
            </a:r>
          </a:p>
          <a:p>
            <a:pPr algn="l">
              <a:spcAft>
                <a:spcPts val="600"/>
              </a:spcAft>
            </a:pPr>
          </a:p>
          <a:p>
            <a:pPr algn="l">
              <a:spcAft>
                <a:spcPts val="600"/>
              </a:spcAft>
            </a:pPr>
            <a:r>
              <a:rPr sz="1800">
                <a:solidFill>
                  <a:srgbClr val="1F2129"/>
                </a:solidFill>
                <a:latin typeface="Calibri"/>
              </a:rPr>
              <a:t>These changes would have saved me the two biggest bugs I hit during the project.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B4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338560" cy="822960"/>
          </a:xfrm>
          <a:prstGeom prst="rect">
            <a:avLst/>
          </a:prstGeom>
          <a:noFill/>
        </p:spPr>
        <p:txBody>
          <a:bodyPr wrap="square">
            <a:spAutoFit/>
          </a:bodyPr>
          <a:lstStyle/>
          <a:p>
            <a:r>
              <a:rPr sz="3400" b="1">
                <a:solidFill>
                  <a:srgbClr val="1F2129"/>
                </a:solidFill>
                <a:latin typeface="Calibri"/>
              </a:rPr>
              <a:t>Thank you — any questions?</a:t>
            </a:r>
          </a:p>
        </p:txBody>
      </p:sp>
      <p:cxnSp>
        <p:nvCxnSpPr>
          <p:cNvPr id="5" name="Connector 4"/>
          <p:cNvCxnSpPr/>
          <p:nvPr/>
        </p:nvCxnSpPr>
        <p:spPr>
          <a:xfrm>
            <a:off x="502920" y="1161288"/>
            <a:ext cx="11183112"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1325880"/>
            <a:ext cx="11183112" cy="1816100"/>
          </a:xfrm>
          <a:prstGeom prst="rect">
            <a:avLst/>
          </a:prstGeom>
          <a:noFill/>
        </p:spPr>
        <p:txBody>
          <a:bodyPr wrap="square">
            <a:spAutoFit/>
          </a:bodyPr>
          <a:lstStyle/>
          <a:p>
            <a:pPr algn="l">
              <a:spcAft>
                <a:spcPts val="600"/>
              </a:spcAft>
            </a:pPr>
            <a:r>
              <a:rPr sz="1800">
                <a:solidFill>
                  <a:srgbClr val="1F2129"/>
                </a:solidFill>
                <a:latin typeface="Calibri"/>
              </a:rPr>
              <a:t>GitHub repo: github.com/Tmaku18/vibzcheck-project2</a:t>
            </a:r>
          </a:p>
          <a:p>
            <a:pPr algn="l">
              <a:spcAft>
                <a:spcPts val="600"/>
              </a:spcAft>
            </a:pPr>
            <a:r>
              <a:rPr sz="1800">
                <a:solidFill>
                  <a:srgbClr val="1F2129"/>
                </a:solidFill>
                <a:latin typeface="Calibri"/>
              </a:rPr>
              <a:t>Signed APK is in the submission folder</a:t>
            </a:r>
          </a:p>
          <a:p>
            <a:pPr algn="l">
              <a:spcAft>
                <a:spcPts val="600"/>
              </a:spcAft>
            </a:pPr>
            <a:r>
              <a:rPr sz="1800">
                <a:solidFill>
                  <a:srgbClr val="1F2129"/>
                </a:solidFill>
                <a:latin typeface="Calibri"/>
              </a:rPr>
              <a:t>Full answer key, bug log, and screenshots are all there too</a:t>
            </a:r>
          </a:p>
          <a:p>
            <a:pPr algn="l">
              <a:spcAft>
                <a:spcPts val="600"/>
              </a:spcAft>
            </a:pPr>
          </a:p>
          <a:p>
            <a:pPr algn="l">
              <a:spcAft>
                <a:spcPts val="600"/>
              </a:spcAft>
            </a:pPr>
            <a:r>
              <a:rPr sz="1800">
                <a:solidFill>
                  <a:srgbClr val="1F2129"/>
                </a:solidFill>
                <a:latin typeface="Calibri"/>
              </a:rPr>
              <a:t>I built a complete, real-time collaborative music app that meets every requirement in the project brief, including the graduate-level fairness ranking and transparent AI suggestions.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