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Tanaka Makuvaza, and for Project 2 I built Vibzcheck - a Flutter and Firebase app where a host can start a listening session, friends join with a six-character code, and everyone votes on a shared queue in real time. I'll walk you through the build, the architecture, the bugs I had to chase, and the choices I'd defend in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demo on the two emulators. Don't read the bullets - just narrate. Key thing to call out: 'Notice nothing here is polled. That's a Firestore stream listener on the queue subcollection. The vote tap on Bob's device is a transaction so even if Alice voted at the same instant, neither one overwrites the other.'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required Firebase services are live, plus Cloud Functions for the Spotify bridge so the Client Secret never ships in the APK. One declarative GoRouter handles all navigation including auth-aware redirects.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hardest features were the live queue with voting, the Spotify cloud function bridge, and the recommendations module. I built them in that order on purpose, because each one validated the substrate the next one assumed. Voting touched auth, Firestore, transactions, and security rules together - if any were broken every later feature would inherit the same break. The Spotify function came next because the queue could already accept tracks from a mock source, so swapping in a real Spotify-backed repository was a one-line provider change. Recommendations went last because they consume what the first two features produce.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SessionScreen used to do everything itself - queue, chat, suggestions, member roster - and it got too big to read in one screenful. I split it into three composable widgets. QueueTrackTile owns one row of the queue. SuggestionsCard owns the AI helper and is completely decoupled from the queue. ChatScreen is its own route so it can be backgrounded without losing state. The screen itself is now mostly TabBarView plumbing.</a:t>
            </a:r>
          </a:p>
          <a:p/>
          <a:p>
            <a:r>
              <a:t>For navigation I picked one declarative GoRouter with an auth-aware redirect. There's a small Listenable adapter that rebroadcasts FirebaseAuth.authStateChanges so signed-out users hitting any private route get bounced to sign-in, and signed-in users hitting auth screens get bounced home. Adding a new private route requires zero changes to the redirect.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top-level collections - users, sessions, joinCodes - and four subcollections under each session.</a:t>
            </a:r>
          </a:p>
          <a:p/>
          <a:p>
            <a:r>
              <a:t>I picked subcollections under sessions instead of parallel top-level collections because a single security rule on sessions/{id}/queue/{trackId} can call isSessionMember(id) *once* per request. If queue tracks lived in their own top-level collection, every doc would have to repeat the membership lookup. It also means Riverpod listener teardown is automatic when the user navigates out of the session screen.</a:t>
            </a:r>
          </a:p>
          <a:p/>
          <a:p>
            <a:r>
              <a:t>The interesting one is joinCodes. It's deliberately top-level and public-readable. I'll explain why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biggest piece of technical debt came from Phase 2. The original join-by-code flow was a single Firestore query - sessions where code equals ?. That query needed read access on the entire sessions collection for every signed-in user. The first time I tightened reads to 'members and owner only' - which the rubric specifically rewards - join-by-code broke end-to-end. A non-member literally couldn't see any session, so no query succeeded. That's the chicken-and-egg I document as Bug 2 in the bug log.</a:t>
            </a:r>
          </a:p>
          <a:p/>
          <a:p>
            <a:r>
              <a:t>I solved it with two changes. First, a separate joinCodes collection mapping code to sessionId - anyone signed-in can read it but it holds no sensitive data. Second, this rule. A non-member can update a session document only to add their own UID to memberIds and bump the denormalised counters. The affectedKeys.hasOnly whitelist is the safety net.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Array-contains plus an orderBy on a different field requires a composite index. The index lives in firestore.indexes.json so it's reproducible - no click-once console config in this repo.</a:t>
            </a:r>
          </a:p>
          <a:p/>
          <a:p>
            <a:r>
              <a:t>On read cost: the index is write-amplifying. Every session update writes one extra index entry per member. For a 10-member session that's 10 index entries per updatedAt bump. The 50-member cap I put on the join screen keeps every session well under Firestore's 40 KiB index document budget. Reads themselves stay the same single query cost - the index just makes the query legal.</a:t>
            </a:r>
          </a:p>
          <a:p/>
          <a:p>
            <a:r>
              <a:t>This index, plus a parallel one for the queue listener, was found the hard way: the home screen spun forever after the join-by-code rewrite. adb logcat showed FAILED_PRECONDITION.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user can read or write only their own profile document. An unauthenticated request has request.auth equals null, so isSignedIn is false and the request fails. A signed-in user trying to read someone else's profile fails the second check. Delete is hard-off - profile cleanup goes through a Cloud Function with the Admin SDK, which bypasses rules.</a:t>
            </a:r>
          </a:p>
          <a:p/>
          <a:p>
            <a:r>
              <a:t>I tested this two ways. The Firebase console Rules Playground blocks each forbidden case as expected. And in session_repository tests against a fake Firestore, the same shape of writes our rules expect is what passes - so a code-side regression that breaks the rule contract would also break the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FCM has the most state of any feature, so I gave it its own service. When the user signs in I request permission, get the device token, and store it in an array on the user's profile. Array shape lets one user accumulate tokens across multiple devices.</a:t>
            </a:r>
          </a:p>
          <a:p/>
          <a:p>
            <a:r>
              <a:t>Delivery has three modes. Foreground gets a SnackBar via the active ScaffoldMessenger. Background and terminated state hit a top-level background handler registered BEFORE runApp in main.dart - it has to be top-level so the platform can spin up a fresh isolate. Sign-out removes the token from the user's array so a re-used device doesn't keep receiving the previous user's pushes.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subtle bug I shipped and caught: tapping upvote twice toggled the UI off but left voteScore equals 1 in Firestore. The naive implementation cleared a vote with votes[uid] = null. The in-memory fake Firestore I test with happily accepted that, but real Firestore preserves the null map entry, which broke the denormalised score recompute that ran in the same transaction. The fix is a dotted-path delete inside the same transaction. The 'upvoting twice toggles the vote off' test now pins this contract.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version of my Spotify repository rethrew every FirebaseFunctionsException, which meant a single Cloud Function hiccup emptied the Add Track screen. I redesigned the response so the repo narrows the rethrow set: only unauthenticated and failed-precondition come through, because those are real user errors a fallback would mask. Everything else falls through to a mock catalogue so the user always sees results.</a:t>
            </a:r>
          </a:p>
          <a:p/>
          <a:p>
            <a:r>
              <a:t>I also reworked the Add Track screen itself. Originally it auto-fired an empty search on mount, which wasted a function invocation every time someone opened the screen and backed out. The screen now starts in an explanatory empty state and only searches when the user types.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sign-in fails, attackers must not be able to figure out which half of the credential pair was wrong - that would let them enumerate which emails have accounts. So my error mapper deliberately collapses three different Firebase Auth codes - user-not-found, wrong-password, and invalid-credential - into one shared 'Email or password is incorrect.' line. Eleven tests in auth_error_messages_test.dart pin this exhaustively, so a future addition to the switch is forced to ship with a paired 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home screen sessions list spun forever for both emulators after the join-by-code rewrite. I profiled it the same way I'd profile any production issue - adb logcat in a side terminal - and the smoking gun was right there: FAILED_PRECONDITION, query requires an index. Added the composite index to firestore.indexes.json, redeployed, and first emission dropped to sub-200 milliseconds. Near-identical bug recurred for the queue listener once Phase 3 added the played == false filter; same playbook resolved it.</a:t>
            </a:r>
          </a:p>
          <a:p/>
          <a:p>
            <a:r>
              <a:t>Takeaway: when a request leaves the device, the right first move is to inspect the server's logs, not the client's.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must-solve helper is a transparent rule-based recommender. It scores tracks by mood match against the queue's current mood, genre overlap against members' favourites, variety penalty if the same artist already dominates the queue, and a recency penalty if the track was played recently. Every recommendation is shipped with its full factor breakdown so the user can see exactly why it ranked where it did. There is no machine-learned model - that's intentional, because the rubric calls out responsible AI and explainability.</a:t>
            </a:r>
          </a:p>
          <a:p/>
          <a:p>
            <a:r>
              <a:t>The graduate fairness module is the second pass. It re-ranks the queue using member participation - quieter members get a small boost. Same explainability shape: every re-rank is shown with the factor it won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Sixty-two tests, all green: nine test files covering the recommender, the fairness ranker, the queue voting transaction, the session lifecycle, the Spotify repository fallback contract, the auth error mapping, the chat repo, the mood summary, and theme rendering.</a:t>
            </a:r>
          </a:p>
          <a:p/>
          <a:p>
            <a:r>
              <a:t>Everything the grader needs lives in submission. The bug log is the diary of the six hardest fixes. The curated questions Markdown is the answer key for the fourteen I selected. The release APK is signed and ready to sideload.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restarted tomorrow on the same Flutter and Firebase substrate, two things would change.</a:t>
            </a:r>
          </a:p>
          <a:p/>
          <a:p>
            <a:r>
              <a:t>One, the Firebase emulator suite would be in the repo from day one. Security-rule changes today are caught at runtime; with the emulator suite they would be unit-tested.</a:t>
            </a:r>
          </a:p>
          <a:p/>
          <a:p>
            <a:r>
              <a:t>Two, every mutation would go through a Cloud Function with the Admin SDK rather than directly from the client to Firestore. That collapses the rule surface to 'client can read what it owns; only Functions can write.' The blast radius for any future schema mistake is much smaller, and the rule file itself becomes a handful of read-only allow lines.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Vibzcheck. Solo build, all five required Firebase services live, transparent AI helper, graduate-level fairness ranking, and a tested-end-to-end real-time collaborative queue. The repo is public, the APK is signed,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463040"/>
          </a:xfrm>
          <a:prstGeom prst="rect">
            <a:avLst/>
          </a:prstGeom>
          <a:noFill/>
        </p:spPr>
        <p:txBody>
          <a:bodyPr wrap="square">
            <a:spAutoFit/>
          </a:bodyPr>
          <a:lstStyle/>
          <a:p>
            <a:pPr algn="l"/>
            <a:r>
              <a:rPr sz="7200" b="1">
                <a:solidFill>
                  <a:srgbClr val="1F2129"/>
                </a:solidFill>
                <a:latin typeface="Calibri"/>
              </a:rPr>
              <a:t>Vibzcheck</a:t>
            </a:r>
          </a:p>
        </p:txBody>
      </p:sp>
      <p:sp>
        <p:nvSpPr>
          <p:cNvPr id="5" name="TextBox 4"/>
          <p:cNvSpPr txBox="1"/>
          <p:nvPr/>
        </p:nvSpPr>
        <p:spPr>
          <a:xfrm>
            <a:off x="914400" y="3749039"/>
            <a:ext cx="10332720" cy="1828800"/>
          </a:xfrm>
          <a:prstGeom prst="rect">
            <a:avLst/>
          </a:prstGeom>
          <a:noFill/>
        </p:spPr>
        <p:txBody>
          <a:bodyPr wrap="square">
            <a:spAutoFit/>
          </a:bodyPr>
          <a:lstStyle/>
          <a:p>
            <a:pPr>
              <a:spcAft>
                <a:spcPts val="800"/>
              </a:spcAft>
            </a:pPr>
            <a:r>
              <a:rPr sz="2200">
                <a:solidFill>
                  <a:srgbClr val="6B4DE6"/>
                </a:solidFill>
                <a:latin typeface="Calibri"/>
              </a:rPr>
              <a:t>Collaborative real-time listening sessions on Flutter + Firebase</a:t>
            </a:r>
          </a:p>
          <a:p>
            <a:pPr>
              <a:spcAft>
                <a:spcPts val="800"/>
              </a:spcAft>
            </a:pPr>
            <a:r>
              <a:rPr sz="1600">
                <a:solidFill>
                  <a:srgbClr val="4A5260"/>
                </a:solidFill>
                <a:latin typeface="Calibri"/>
              </a:rPr>
              <a:t>Tanaka Makuvaza  -  CSC 6370  -  CRN 13598  -  Project 2  -  Solo (M.S.)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Live demo: two devices, one queue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Demo (Slide 2)</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146300"/>
          </a:xfrm>
          <a:prstGeom prst="rect">
            <a:avLst/>
          </a:prstGeom>
          <a:noFill/>
        </p:spPr>
        <p:txBody>
          <a:bodyPr wrap="square">
            <a:spAutoFit/>
          </a:bodyPr>
          <a:lstStyle/>
          <a:p>
            <a:pPr algn="l">
              <a:spcAft>
                <a:spcPts val="600"/>
              </a:spcAft>
            </a:pPr>
            <a:r>
              <a:rPr sz="1800">
                <a:solidFill>
                  <a:srgbClr val="1F2129"/>
                </a:solidFill>
                <a:latin typeface="Calibri"/>
              </a:rPr>
              <a:t>Device A (Alice, owner): sign in -&gt; Start a session 'Demo' -&gt; read 6-char code aloud</a:t>
            </a:r>
          </a:p>
          <a:p>
            <a:pPr algn="l">
              <a:spcAft>
                <a:spcPts val="600"/>
              </a:spcAft>
            </a:pPr>
            <a:r>
              <a:rPr sz="1800">
                <a:solidFill>
                  <a:srgbClr val="1F2129"/>
                </a:solidFill>
                <a:latin typeface="Calibri"/>
              </a:rPr>
              <a:t>Device B (Bob, joiner): sign in -&gt; Join with code -&gt; lands in same session</a:t>
            </a:r>
          </a:p>
          <a:p>
            <a:pPr algn="l">
              <a:spcAft>
                <a:spcPts val="600"/>
              </a:spcAft>
            </a:pPr>
            <a:r>
              <a:rPr sz="1800">
                <a:solidFill>
                  <a:srgbClr val="1F2129"/>
                </a:solidFill>
                <a:latin typeface="Calibri"/>
              </a:rPr>
              <a:t>Device A: Add a track -&gt; search 'weeknd' -&gt; + on Blinding Lights</a:t>
            </a:r>
          </a:p>
          <a:p>
            <a:pPr algn="l">
              <a:spcAft>
                <a:spcPts val="600"/>
              </a:spcAft>
            </a:pPr>
            <a:r>
              <a:rPr sz="1800">
                <a:solidFill>
                  <a:srgbClr val="1F2129"/>
                </a:solidFill>
                <a:latin typeface="Calibri"/>
              </a:rPr>
              <a:t>Both screens update via Firestore stream listener (no polling)</a:t>
            </a:r>
          </a:p>
          <a:p>
            <a:pPr algn="l">
              <a:spcAft>
                <a:spcPts val="600"/>
              </a:spcAft>
            </a:pPr>
            <a:r>
              <a:rPr sz="1800">
                <a:solidFill>
                  <a:srgbClr val="1F2129"/>
                </a:solidFill>
                <a:latin typeface="Calibri"/>
              </a:rPr>
              <a:t>Device B upvotes -&gt; score flips to 1 on Device A (transaction-safe)</a:t>
            </a:r>
          </a:p>
          <a:p>
            <a:pPr algn="l">
              <a:spcAft>
                <a:spcPts val="600"/>
              </a:spcAft>
            </a:pPr>
            <a:r>
              <a:rPr sz="1800">
                <a:solidFill>
                  <a:srgbClr val="1F2129"/>
                </a:solidFill>
                <a:latin typeface="Calibri"/>
              </a:rPr>
              <a:t>Open Suggestions tab -&gt; expand the per-factor 'why?' panel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Stack at a glance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What's wired, why it's wired</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graphicFrame>
        <p:nvGraphicFramePr>
          <p:cNvPr id="7" name="Table 6"/>
          <p:cNvGraphicFramePr>
            <a:graphicFrameLocks noGrp="1"/>
          </p:cNvGraphicFramePr>
          <p:nvPr/>
        </p:nvGraphicFramePr>
        <p:xfrm>
          <a:off x="502920" y="1691640"/>
          <a:ext cx="11183112" cy="3364992"/>
        </p:xfrm>
        <a:graphic>
          <a:graphicData uri="http://schemas.openxmlformats.org/drawingml/2006/table">
            <a:tbl>
              <a:tblPr firstRow="1" bandRow="1">
                <a:tableStyleId>{5C22544A-7EE6-4342-B048-85BDC9FD1C3A}</a:tableStyleId>
              </a:tblPr>
              <a:tblGrid>
                <a:gridCol w="2194560"/>
                <a:gridCol w="8988552"/>
              </a:tblGrid>
              <a:tr h="420624">
                <a:tc>
                  <a:txBody>
                    <a:bodyPr lIns="109728" rIns="109728" tIns="36576" bIns="36576"/>
                    <a:lstStyle/>
                    <a:p>
                      <a:r>
                        <a:rPr sz="1500" b="1">
                          <a:solidFill>
                            <a:srgbClr val="6B4DE6"/>
                          </a:solidFill>
                          <a:latin typeface="Calibri"/>
                        </a:rPr>
                        <a:t>Mobile</a:t>
                      </a:r>
                    </a:p>
                  </a:txBody>
                  <a:tcPr>
                    <a:solidFill>
                      <a:srgbClr val="ECE7FE"/>
                    </a:solidFill>
                  </a:tcPr>
                </a:tc>
                <a:tc>
                  <a:txBody>
                    <a:bodyPr lIns="109728" rIns="109728" tIns="36576" bIns="36576"/>
                    <a:lstStyle/>
                    <a:p>
                      <a:r>
                        <a:rPr sz="1500" b="0">
                          <a:solidFill>
                            <a:srgbClr val="1F2129"/>
                          </a:solidFill>
                          <a:latin typeface="Calibri"/>
                        </a:rPr>
                        <a:t>Flutter 3.38 / Dart 3.10  -  single codebase, Material 3</a:t>
                      </a:r>
                    </a:p>
                  </a:txBody>
                  <a:tcPr>
                    <a:solidFill>
                      <a:srgbClr val="FAFAFB"/>
                    </a:solidFill>
                  </a:tcPr>
                </a:tc>
              </a:tr>
              <a:tr h="420624">
                <a:tc>
                  <a:txBody>
                    <a:bodyPr lIns="109728" rIns="109728" tIns="36576" bIns="36576"/>
                    <a:lstStyle/>
                    <a:p>
                      <a:r>
                        <a:rPr sz="1500" b="1">
                          <a:solidFill>
                            <a:srgbClr val="6B4DE6"/>
                          </a:solidFill>
                          <a:latin typeface="Calibri"/>
                        </a:rPr>
                        <a:t>State</a:t>
                      </a:r>
                    </a:p>
                  </a:txBody>
                  <a:tcPr>
                    <a:solidFill>
                      <a:srgbClr val="ECE7FE"/>
                    </a:solidFill>
                  </a:tcPr>
                </a:tc>
                <a:tc>
                  <a:txBody>
                    <a:bodyPr lIns="109728" rIns="109728" tIns="36576" bIns="36576"/>
                    <a:lstStyle/>
                    <a:p>
                      <a:r>
                        <a:rPr sz="1500" b="0">
                          <a:solidFill>
                            <a:srgbClr val="1F2129"/>
                          </a:solidFill>
                          <a:latin typeface="Calibri"/>
                        </a:rPr>
                        <a:t>Riverpod 3  -  compile-checked DI, auto-dispose</a:t>
                      </a:r>
                    </a:p>
                  </a:txBody>
                  <a:tcPr>
                    <a:solidFill>
                      <a:srgbClr val="FAFAFB"/>
                    </a:solidFill>
                  </a:tcPr>
                </a:tc>
              </a:tr>
              <a:tr h="420624">
                <a:tc>
                  <a:txBody>
                    <a:bodyPr lIns="109728" rIns="109728" tIns="36576" bIns="36576"/>
                    <a:lstStyle/>
                    <a:p>
                      <a:r>
                        <a:rPr sz="1500" b="1">
                          <a:solidFill>
                            <a:srgbClr val="6B4DE6"/>
                          </a:solidFill>
                          <a:latin typeface="Calibri"/>
                        </a:rPr>
                        <a:t>Routing</a:t>
                      </a:r>
                    </a:p>
                  </a:txBody>
                  <a:tcPr>
                    <a:solidFill>
                      <a:srgbClr val="ECE7FE"/>
                    </a:solidFill>
                  </a:tcPr>
                </a:tc>
                <a:tc>
                  <a:txBody>
                    <a:bodyPr lIns="109728" rIns="109728" tIns="36576" bIns="36576"/>
                    <a:lstStyle/>
                    <a:p>
                      <a:r>
                        <a:rPr sz="1500" b="0">
                          <a:solidFill>
                            <a:srgbClr val="1F2129"/>
                          </a:solidFill>
                          <a:latin typeface="Calibri"/>
                        </a:rPr>
                        <a:t>go_router 17  -  declarative + auth-aware redirect</a:t>
                      </a:r>
                    </a:p>
                  </a:txBody>
                  <a:tcPr>
                    <a:solidFill>
                      <a:srgbClr val="FAFAFB"/>
                    </a:solidFill>
                  </a:tcPr>
                </a:tc>
              </a:tr>
              <a:tr h="420624">
                <a:tc>
                  <a:txBody>
                    <a:bodyPr lIns="109728" rIns="109728" tIns="36576" bIns="36576"/>
                    <a:lstStyle/>
                    <a:p>
                      <a:r>
                        <a:rPr sz="1500" b="1">
                          <a:solidFill>
                            <a:srgbClr val="6B4DE6"/>
                          </a:solidFill>
                          <a:latin typeface="Calibri"/>
                        </a:rPr>
                        <a:t>Identity</a:t>
                      </a:r>
                    </a:p>
                  </a:txBody>
                  <a:tcPr>
                    <a:solidFill>
                      <a:srgbClr val="ECE7FE"/>
                    </a:solidFill>
                  </a:tcPr>
                </a:tc>
                <a:tc>
                  <a:txBody>
                    <a:bodyPr lIns="109728" rIns="109728" tIns="36576" bIns="36576"/>
                    <a:lstStyle/>
                    <a:p>
                      <a:r>
                        <a:rPr sz="1500" b="0">
                          <a:solidFill>
                            <a:srgbClr val="1F2129"/>
                          </a:solidFill>
                          <a:latin typeface="Calibri"/>
                        </a:rPr>
                        <a:t>firebase_auth  -  email + password</a:t>
                      </a:r>
                    </a:p>
                  </a:txBody>
                  <a:tcPr>
                    <a:solidFill>
                      <a:srgbClr val="FAFAFB"/>
                    </a:solidFill>
                  </a:tcPr>
                </a:tc>
              </a:tr>
              <a:tr h="420624">
                <a:tc>
                  <a:txBody>
                    <a:bodyPr lIns="109728" rIns="109728" tIns="36576" bIns="36576"/>
                    <a:lstStyle/>
                    <a:p>
                      <a:r>
                        <a:rPr sz="1500" b="1">
                          <a:solidFill>
                            <a:srgbClr val="6B4DE6"/>
                          </a:solidFill>
                          <a:latin typeface="Calibri"/>
                        </a:rPr>
                        <a:t>Database</a:t>
                      </a:r>
                    </a:p>
                  </a:txBody>
                  <a:tcPr>
                    <a:solidFill>
                      <a:srgbClr val="ECE7FE"/>
                    </a:solidFill>
                  </a:tcPr>
                </a:tc>
                <a:tc>
                  <a:txBody>
                    <a:bodyPr lIns="109728" rIns="109728" tIns="36576" bIns="36576"/>
                    <a:lstStyle/>
                    <a:p>
                      <a:r>
                        <a:rPr sz="1500" b="0">
                          <a:solidFill>
                            <a:srgbClr val="1F2129"/>
                          </a:solidFill>
                          <a:latin typeface="Calibri"/>
                        </a:rPr>
                        <a:t>cloud_firestore  -  real-time queue, votes, chat</a:t>
                      </a:r>
                    </a:p>
                  </a:txBody>
                  <a:tcPr>
                    <a:solidFill>
                      <a:srgbClr val="FAFAFB"/>
                    </a:solidFill>
                  </a:tcPr>
                </a:tc>
              </a:tr>
              <a:tr h="420624">
                <a:tc>
                  <a:txBody>
                    <a:bodyPr lIns="109728" rIns="109728" tIns="36576" bIns="36576"/>
                    <a:lstStyle/>
                    <a:p>
                      <a:r>
                        <a:rPr sz="1500" b="1">
                          <a:solidFill>
                            <a:srgbClr val="6B4DE6"/>
                          </a:solidFill>
                          <a:latin typeface="Calibri"/>
                        </a:rPr>
                        <a:t>Files</a:t>
                      </a:r>
                    </a:p>
                  </a:txBody>
                  <a:tcPr>
                    <a:solidFill>
                      <a:srgbClr val="ECE7FE"/>
                    </a:solidFill>
                  </a:tcPr>
                </a:tc>
                <a:tc>
                  <a:txBody>
                    <a:bodyPr lIns="109728" rIns="109728" tIns="36576" bIns="36576"/>
                    <a:lstStyle/>
                    <a:p>
                      <a:r>
                        <a:rPr sz="1500" b="0">
                          <a:solidFill>
                            <a:srgbClr val="1F2129"/>
                          </a:solidFill>
                          <a:latin typeface="Calibri"/>
                        </a:rPr>
                        <a:t>firebase_storage  -  avatars</a:t>
                      </a:r>
                    </a:p>
                  </a:txBody>
                  <a:tcPr>
                    <a:solidFill>
                      <a:srgbClr val="FAFAFB"/>
                    </a:solidFill>
                  </a:tcPr>
                </a:tc>
              </a:tr>
              <a:tr h="420624">
                <a:tc>
                  <a:txBody>
                    <a:bodyPr lIns="109728" rIns="109728" tIns="36576" bIns="36576"/>
                    <a:lstStyle/>
                    <a:p>
                      <a:r>
                        <a:rPr sz="1500" b="1">
                          <a:solidFill>
                            <a:srgbClr val="6B4DE6"/>
                          </a:solidFill>
                          <a:latin typeface="Calibri"/>
                        </a:rPr>
                        <a:t>Push</a:t>
                      </a:r>
                    </a:p>
                  </a:txBody>
                  <a:tcPr>
                    <a:solidFill>
                      <a:srgbClr val="ECE7FE"/>
                    </a:solidFill>
                  </a:tcPr>
                </a:tc>
                <a:tc>
                  <a:txBody>
                    <a:bodyPr lIns="109728" rIns="109728" tIns="36576" bIns="36576"/>
                    <a:lstStyle/>
                    <a:p>
                      <a:r>
                        <a:rPr sz="1500" b="0">
                          <a:solidFill>
                            <a:srgbClr val="1F2129"/>
                          </a:solidFill>
                          <a:latin typeface="Calibri"/>
                        </a:rPr>
                        <a:t>firebase_messaging  -  invites, vote rounds</a:t>
                      </a:r>
                    </a:p>
                  </a:txBody>
                  <a:tcPr>
                    <a:solidFill>
                      <a:srgbClr val="FAFAFB"/>
                    </a:solidFill>
                  </a:tcPr>
                </a:tc>
              </a:tr>
              <a:tr h="420624">
                <a:tc>
                  <a:txBody>
                    <a:bodyPr lIns="109728" rIns="109728" tIns="36576" bIns="36576"/>
                    <a:lstStyle/>
                    <a:p>
                      <a:r>
                        <a:rPr sz="1500" b="1">
                          <a:solidFill>
                            <a:srgbClr val="6B4DE6"/>
                          </a:solidFill>
                          <a:latin typeface="Calibri"/>
                        </a:rPr>
                        <a:t>Server</a:t>
                      </a:r>
                    </a:p>
                  </a:txBody>
                  <a:tcPr>
                    <a:solidFill>
                      <a:srgbClr val="ECE7FE"/>
                    </a:solidFill>
                  </a:tcPr>
                </a:tc>
                <a:tc>
                  <a:txBody>
                    <a:bodyPr lIns="109728" rIns="109728" tIns="36576" bIns="36576"/>
                    <a:lstStyle/>
                    <a:p>
                      <a:r>
                        <a:rPr sz="1500" b="0">
                          <a:solidFill>
                            <a:srgbClr val="1F2129"/>
                          </a:solidFill>
                          <a:latin typeface="Calibri"/>
                        </a:rPr>
                        <a:t>cloud_functions (Node 22 / TS)  -  Spotify bridge, secrets</a:t>
                      </a:r>
                    </a:p>
                  </a:txBody>
                  <a:tcPr>
                    <a:solidFill>
                      <a:srgbClr val="FAFAFB"/>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Build sequence: a staircase, not a pile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  -  Implementation</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1485900"/>
          </a:xfrm>
          <a:prstGeom prst="rect">
            <a:avLst/>
          </a:prstGeom>
          <a:noFill/>
        </p:spPr>
        <p:txBody>
          <a:bodyPr wrap="square">
            <a:spAutoFit/>
          </a:bodyPr>
          <a:lstStyle/>
          <a:p>
            <a:pPr algn="l">
              <a:spcAft>
                <a:spcPts val="600"/>
              </a:spcAft>
            </a:pPr>
            <a:r>
              <a:rPr sz="1800">
                <a:solidFill>
                  <a:srgbClr val="1F2129"/>
                </a:solidFill>
                <a:latin typeface="Calibri"/>
              </a:rPr>
              <a:t>1.  Queue + voting   (auth + Firestore + transactions + rules together)</a:t>
            </a:r>
          </a:p>
          <a:p>
            <a:pPr algn="l">
              <a:spcAft>
                <a:spcPts val="600"/>
              </a:spcAft>
            </a:pPr>
            <a:r>
              <a:rPr sz="1800">
                <a:solidFill>
                  <a:srgbClr val="1F2129"/>
                </a:solidFill>
                <a:latin typeface="Calibri"/>
              </a:rPr>
              <a:t>2.  Spotify Cloud Function   (server tier; queue already accepts any source)</a:t>
            </a:r>
          </a:p>
          <a:p>
            <a:pPr algn="l">
              <a:spcAft>
                <a:spcPts val="600"/>
              </a:spcAft>
            </a:pPr>
            <a:r>
              <a:rPr sz="1800">
                <a:solidFill>
                  <a:srgbClr val="1F2129"/>
                </a:solidFill>
                <a:latin typeface="Calibri"/>
              </a:rPr>
              <a:t>3.  Recommendations + fairness   (consume what 1 + 2 produced)</a:t>
            </a:r>
          </a:p>
          <a:p>
            <a:pPr algn="l">
              <a:spcAft>
                <a:spcPts val="600"/>
              </a:spcAft>
            </a:pPr>
            <a:r>
              <a:rPr sz="1800">
                <a:solidFill>
                  <a:srgbClr val="1F2129"/>
                </a:solidFill>
                <a:latin typeface="Calibri"/>
              </a:rPr>
              <a:t>Each layer had a tested predecessor before any new uncertainty was added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Screen decomposition + auth-aware routing</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Q4 + Q5  -  Architecture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806700"/>
          </a:xfrm>
          <a:prstGeom prst="rect">
            <a:avLst/>
          </a:prstGeom>
          <a:noFill/>
        </p:spPr>
        <p:txBody>
          <a:bodyPr wrap="square">
            <a:spAutoFit/>
          </a:bodyPr>
          <a:lstStyle/>
          <a:p>
            <a:pPr algn="l">
              <a:spcAft>
                <a:spcPts val="600"/>
              </a:spcAft>
            </a:pPr>
            <a:r>
              <a:rPr sz="1800">
                <a:solidFill>
                  <a:srgbClr val="1F2129"/>
                </a:solidFill>
                <a:latin typeface="Calibri"/>
              </a:rPr>
              <a:t>SessionScreen (tab host)</a:t>
            </a:r>
          </a:p>
          <a:p>
            <a:pPr algn="l">
              <a:spcAft>
                <a:spcPts val="600"/>
              </a:spcAft>
            </a:pPr>
            <a:r>
              <a:rPr sz="1800">
                <a:solidFill>
                  <a:srgbClr val="1F2129"/>
                </a:solidFill>
                <a:latin typeface="Calibri"/>
              </a:rPr>
              <a:t>    -  QueueTrackTile         (one row, owns vote state)</a:t>
            </a:r>
          </a:p>
          <a:p>
            <a:pPr algn="l">
              <a:spcAft>
                <a:spcPts val="600"/>
              </a:spcAft>
            </a:pPr>
            <a:r>
              <a:rPr sz="1800">
                <a:solidFill>
                  <a:srgbClr val="1F2129"/>
                </a:solidFill>
                <a:latin typeface="Calibri"/>
              </a:rPr>
              <a:t>    -  SuggestionsCard        (AI helper, decoupled from queue)</a:t>
            </a:r>
          </a:p>
          <a:p>
            <a:pPr algn="l">
              <a:spcAft>
                <a:spcPts val="600"/>
              </a:spcAft>
            </a:pPr>
            <a:r>
              <a:rPr sz="1800">
                <a:solidFill>
                  <a:srgbClr val="1F2129"/>
                </a:solidFill>
                <a:latin typeface="Calibri"/>
              </a:rPr>
              <a:t>    -  ChatScreen             (own route, survives backgrounding)</a:t>
            </a:r>
          </a:p>
          <a:p>
            <a:pPr algn="l">
              <a:spcAft>
                <a:spcPts val="600"/>
              </a:spcAft>
            </a:pPr>
            <a:r>
              <a:rPr sz="1800">
                <a:solidFill>
                  <a:srgbClr val="1F2129"/>
                </a:solidFill>
                <a:latin typeface="Calibri"/>
              </a:rPr>
              <a:t>GoRouter with auth-aware redirect:</a:t>
            </a:r>
          </a:p>
          <a:p>
            <a:pPr algn="l">
              <a:spcAft>
                <a:spcPts val="600"/>
              </a:spcAft>
            </a:pPr>
            <a:r>
              <a:rPr sz="1800">
                <a:solidFill>
                  <a:srgbClr val="1F2129"/>
                </a:solidFill>
                <a:latin typeface="Calibri"/>
              </a:rPr>
              <a:t>    -  signed-out + private route  -&gt; /sign-in</a:t>
            </a:r>
          </a:p>
          <a:p>
            <a:pPr algn="l">
              <a:spcAft>
                <a:spcPts val="600"/>
              </a:spcAft>
            </a:pPr>
            <a:r>
              <a:rPr sz="1800">
                <a:solidFill>
                  <a:srgbClr val="1F2129"/>
                </a:solidFill>
                <a:latin typeface="Calibri"/>
              </a:rPr>
              <a:t>    -  signed-in  + auth screen   -&gt; /</a:t>
            </a:r>
          </a:p>
          <a:p>
            <a:pPr algn="l">
              <a:spcAft>
                <a:spcPts val="600"/>
              </a:spcAft>
            </a:pPr>
            <a:r>
              <a:rPr sz="1800">
                <a:solidFill>
                  <a:srgbClr val="1F2129"/>
                </a:solidFill>
                <a:latin typeface="Calibri"/>
              </a:rPr>
              <a:t>    -  zero changes to add a new private route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Firestore data model</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Q10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691640"/>
            <a:ext cx="11183112" cy="16141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users/{uid}</a:t>
            </a:r>
          </a:p>
          <a:p>
            <a:pPr algn="l">
              <a:spcAft>
                <a:spcPts val="0"/>
              </a:spcAft>
            </a:pPr>
            <a:r>
              <a:rPr sz="1300">
                <a:solidFill>
                  <a:srgbClr val="1F2129"/>
                </a:solidFill>
                <a:latin typeface="Consolas"/>
              </a:rPr>
              <a:t>sessions/{sessionId}</a:t>
            </a:r>
          </a:p>
          <a:p>
            <a:pPr algn="l">
              <a:spcAft>
                <a:spcPts val="0"/>
              </a:spcAft>
            </a:pPr>
            <a:r>
              <a:rPr sz="1300">
                <a:solidFill>
                  <a:srgbClr val="1F2129"/>
                </a:solidFill>
                <a:latin typeface="Consolas"/>
              </a:rPr>
              <a:t>  |-- members/{uid}</a:t>
            </a:r>
          </a:p>
          <a:p>
            <a:pPr algn="l">
              <a:spcAft>
                <a:spcPts val="0"/>
              </a:spcAft>
            </a:pPr>
            <a:r>
              <a:rPr sz="1300">
                <a:solidFill>
                  <a:srgbClr val="1F2129"/>
                </a:solidFill>
                <a:latin typeface="Consolas"/>
              </a:rPr>
              <a:t>  |-- queue/{trackId}</a:t>
            </a:r>
          </a:p>
          <a:p>
            <a:pPr algn="l">
              <a:spcAft>
                <a:spcPts val="0"/>
              </a:spcAft>
            </a:pPr>
            <a:r>
              <a:rPr sz="1300">
                <a:solidFill>
                  <a:srgbClr val="1F2129"/>
                </a:solidFill>
                <a:latin typeface="Consolas"/>
              </a:rPr>
              <a:t>  |-- messages/{messageId}</a:t>
            </a:r>
          </a:p>
          <a:p>
            <a:pPr algn="l">
              <a:spcAft>
                <a:spcPts val="0"/>
              </a:spcAft>
            </a:pPr>
            <a:r>
              <a:rPr sz="1300">
                <a:solidFill>
                  <a:srgbClr val="1F2129"/>
                </a:solidFill>
                <a:latin typeface="Consolas"/>
              </a:rPr>
              <a:t>  +-- suggestions/{snapshotId}</a:t>
            </a:r>
          </a:p>
          <a:p>
            <a:pPr algn="l">
              <a:spcAft>
                <a:spcPts val="0"/>
              </a:spcAft>
            </a:pPr>
            <a:r>
              <a:rPr sz="1300">
                <a:solidFill>
                  <a:srgbClr val="1F2129"/>
                </a:solidFill>
                <a:latin typeface="Consolas"/>
              </a:rPr>
              <a:t>joinCodes/{code}      &lt;-- public lookup (read-only mapping)</a:t>
            </a:r>
          </a:p>
        </p:txBody>
      </p:sp>
      <p:sp>
        <p:nvSpPr>
          <p:cNvPr id="8" name="TextBox 7"/>
          <p:cNvSpPr txBox="1"/>
          <p:nvPr/>
        </p:nvSpPr>
        <p:spPr>
          <a:xfrm>
            <a:off x="502920" y="3442969"/>
            <a:ext cx="11183112" cy="1155700"/>
          </a:xfrm>
          <a:prstGeom prst="rect">
            <a:avLst/>
          </a:prstGeom>
          <a:noFill/>
        </p:spPr>
        <p:txBody>
          <a:bodyPr wrap="square">
            <a:spAutoFit/>
          </a:bodyPr>
          <a:lstStyle/>
          <a:p>
            <a:pPr algn="l">
              <a:spcAft>
                <a:spcPts val="600"/>
              </a:spcAft>
            </a:pPr>
            <a:r>
              <a:rPr sz="1800">
                <a:solidFill>
                  <a:srgbClr val="1F2129"/>
                </a:solidFill>
                <a:latin typeface="Calibri"/>
              </a:rPr>
              <a:t>Subcollections under sessions: one rule call (isSessionMember) per request, not per doc</a:t>
            </a:r>
          </a:p>
          <a:p>
            <a:pPr algn="l">
              <a:spcAft>
                <a:spcPts val="600"/>
              </a:spcAft>
            </a:pPr>
            <a:r>
              <a:rPr sz="1800">
                <a:solidFill>
                  <a:srgbClr val="1F2129"/>
                </a:solidFill>
                <a:latin typeface="Calibri"/>
              </a:rPr>
              <a:t>Riverpod listener teardown is automatic when navigating out of a session</a:t>
            </a:r>
          </a:p>
          <a:p>
            <a:pPr algn="l">
              <a:spcAft>
                <a:spcPts val="600"/>
              </a:spcAft>
            </a:pPr>
            <a:r>
              <a:rPr sz="1800">
                <a:solidFill>
                  <a:srgbClr val="1F2129"/>
                </a:solidFill>
                <a:latin typeface="Calibri"/>
              </a:rPr>
              <a:t>joinCodes is deliberately top-level + public so non-members can resolve a code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Join-by-code: the chicken-and-egg + the fix</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Q14 + Q6  -  Reflection + Architecture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825500"/>
          </a:xfrm>
          <a:prstGeom prst="rect">
            <a:avLst/>
          </a:prstGeom>
          <a:noFill/>
        </p:spPr>
        <p:txBody>
          <a:bodyPr wrap="square">
            <a:spAutoFit/>
          </a:bodyPr>
          <a:lstStyle/>
          <a:p>
            <a:pPr algn="l">
              <a:spcAft>
                <a:spcPts val="600"/>
              </a:spcAft>
            </a:pPr>
            <a:r>
              <a:rPr sz="1800">
                <a:solidFill>
                  <a:srgbClr val="1F2129"/>
                </a:solidFill>
                <a:latin typeface="Calibri"/>
              </a:rPr>
              <a:t>v1 (broken):  sessions where code == ?      requires read on entire collection</a:t>
            </a:r>
          </a:p>
          <a:p>
            <a:pPr algn="l">
              <a:spcAft>
                <a:spcPts val="600"/>
              </a:spcAft>
            </a:pPr>
            <a:r>
              <a:rPr sz="1800">
                <a:solidFill>
                  <a:srgbClr val="1F2129"/>
                </a:solidFill>
                <a:latin typeface="Calibri"/>
              </a:rPr>
              <a:t>v2 (shipped): joinCodes/{code} -&gt; sessionId   plus this rule:</a:t>
            </a:r>
          </a:p>
        </p:txBody>
      </p:sp>
      <p:sp>
        <p:nvSpPr>
          <p:cNvPr id="8" name="Rounded Rectangle 7"/>
          <p:cNvSpPr/>
          <p:nvPr/>
        </p:nvSpPr>
        <p:spPr>
          <a:xfrm>
            <a:off x="502920" y="2562860"/>
            <a:ext cx="11183112" cy="16141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function isJoiningSelf() {</a:t>
            </a:r>
          </a:p>
          <a:p>
            <a:pPr algn="l">
              <a:spcAft>
                <a:spcPts val="0"/>
              </a:spcAft>
            </a:pPr>
            <a:r>
              <a:rPr sz="1300">
                <a:solidFill>
                  <a:srgbClr val="1F2129"/>
                </a:solidFill>
                <a:latin typeface="Consolas"/>
              </a:rPr>
              <a:t>  return isSignedIn()</a:t>
            </a:r>
          </a:p>
          <a:p>
            <a:pPr algn="l">
              <a:spcAft>
                <a:spcPts val="0"/>
              </a:spcAft>
            </a:pPr>
            <a:r>
              <a:rPr sz="1300">
                <a:solidFill>
                  <a:srgbClr val="1F2129"/>
                </a:solidFill>
                <a:latin typeface="Consolas"/>
              </a:rPr>
              <a:t>    &amp;&amp; !(request.auth.uid in resource.data.memberIds)</a:t>
            </a:r>
          </a:p>
          <a:p>
            <a:pPr algn="l">
              <a:spcAft>
                <a:spcPts val="0"/>
              </a:spcAft>
            </a:pPr>
            <a:r>
              <a:rPr sz="1300">
                <a:solidFill>
                  <a:srgbClr val="1F2129"/>
                </a:solidFill>
                <a:latin typeface="Consolas"/>
              </a:rPr>
              <a:t>    &amp;&amp; request.auth.uid in request.resource.data.memberIds</a:t>
            </a:r>
          </a:p>
          <a:p>
            <a:pPr algn="l">
              <a:spcAft>
                <a:spcPts val="0"/>
              </a:spcAft>
            </a:pPr>
            <a:r>
              <a:rPr sz="1300">
                <a:solidFill>
                  <a:srgbClr val="1F2129"/>
                </a:solidFill>
                <a:latin typeface="Consolas"/>
              </a:rPr>
              <a:t>    &amp;&amp; request.resource.data.diff(resource.data).affectedKeys()</a:t>
            </a:r>
          </a:p>
          <a:p>
            <a:pPr algn="l">
              <a:spcAft>
                <a:spcPts val="0"/>
              </a:spcAft>
            </a:pPr>
            <a:r>
              <a:rPr sz="1300">
                <a:solidFill>
                  <a:srgbClr val="1F2129"/>
                </a:solidFill>
                <a:latin typeface="Consolas"/>
              </a:rPr>
              <a:t>        .hasOnly(['memberIds', 'memberCount', 'updatedAt']);</a:t>
            </a:r>
          </a:p>
          <a:p>
            <a:pPr algn="l">
              <a:spcAft>
                <a:spcPts val="0"/>
              </a:spcAft>
            </a:pPr>
            <a:r>
              <a:rPr sz="1300">
                <a:solidFill>
                  <a:srgbClr val="1F2129"/>
                </a:solidFill>
                <a:latin typeface="Consolas"/>
              </a:rPr>
              <a:t>}</a:t>
            </a:r>
          </a:p>
        </p:txBody>
      </p:sp>
      <p:sp>
        <p:nvSpPr>
          <p:cNvPr id="9" name="TextBox 8"/>
          <p:cNvSpPr txBox="1"/>
          <p:nvPr/>
        </p:nvSpPr>
        <p:spPr>
          <a:xfrm>
            <a:off x="502920" y="4314189"/>
            <a:ext cx="11183112" cy="825500"/>
          </a:xfrm>
          <a:prstGeom prst="rect">
            <a:avLst/>
          </a:prstGeom>
          <a:noFill/>
        </p:spPr>
        <p:txBody>
          <a:bodyPr wrap="square">
            <a:spAutoFit/>
          </a:bodyPr>
          <a:lstStyle/>
          <a:p>
            <a:pPr algn="l">
              <a:spcAft>
                <a:spcPts val="600"/>
              </a:spcAft>
            </a:pPr>
            <a:r>
              <a:rPr sz="1800">
                <a:solidFill>
                  <a:srgbClr val="1F2129"/>
                </a:solidFill>
                <a:latin typeface="Calibri"/>
              </a:rPr>
              <a:t>Strict whitelist: a non-member can ONLY add their own UID + bump counters</a:t>
            </a:r>
          </a:p>
          <a:p>
            <a:pPr algn="l">
              <a:spcAft>
                <a:spcPts val="600"/>
              </a:spcAft>
            </a:pPr>
            <a:r>
              <a:rPr sz="1800">
                <a:solidFill>
                  <a:srgbClr val="1F2129"/>
                </a:solidFill>
                <a:latin typeface="Calibri"/>
              </a:rPr>
              <a:t>Pattern is now my default for any 'share-by-link'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Composite index + read-cost trade-off</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Q11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495300"/>
          </a:xfrm>
          <a:prstGeom prst="rect">
            <a:avLst/>
          </a:prstGeom>
          <a:noFill/>
        </p:spPr>
        <p:txBody>
          <a:bodyPr wrap="square">
            <a:spAutoFit/>
          </a:bodyPr>
          <a:lstStyle/>
          <a:p>
            <a:pPr algn="l">
              <a:spcAft>
                <a:spcPts val="600"/>
              </a:spcAft>
            </a:pPr>
            <a:r>
              <a:rPr sz="1800">
                <a:solidFill>
                  <a:srgbClr val="1F2129"/>
                </a:solidFill>
                <a:latin typeface="Calibri"/>
              </a:rPr>
              <a:t>The query (home screen 'sessions I'm in'):</a:t>
            </a:r>
          </a:p>
        </p:txBody>
      </p:sp>
      <p:sp>
        <p:nvSpPr>
          <p:cNvPr id="8" name="Rounded Rectangle 7"/>
          <p:cNvSpPr/>
          <p:nvPr/>
        </p:nvSpPr>
        <p:spPr>
          <a:xfrm>
            <a:off x="502920" y="2232660"/>
            <a:ext cx="11183112" cy="10236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_sessions</a:t>
            </a:r>
          </a:p>
          <a:p>
            <a:pPr algn="l">
              <a:spcAft>
                <a:spcPts val="0"/>
              </a:spcAft>
            </a:pPr>
            <a:r>
              <a:rPr sz="1300">
                <a:solidFill>
                  <a:srgbClr val="1F2129"/>
                </a:solidFill>
                <a:latin typeface="Consolas"/>
              </a:rPr>
              <a:t>    .where('memberIds', arrayContains: uid)</a:t>
            </a:r>
          </a:p>
          <a:p>
            <a:pPr algn="l">
              <a:spcAft>
                <a:spcPts val="0"/>
              </a:spcAft>
            </a:pPr>
            <a:r>
              <a:rPr sz="1300">
                <a:solidFill>
                  <a:srgbClr val="1F2129"/>
                </a:solidFill>
                <a:latin typeface="Consolas"/>
              </a:rPr>
              <a:t>    .orderBy('updatedAt', descending: true)</a:t>
            </a:r>
          </a:p>
          <a:p>
            <a:pPr algn="l">
              <a:spcAft>
                <a:spcPts val="0"/>
              </a:spcAft>
            </a:pPr>
            <a:r>
              <a:rPr sz="1300">
                <a:solidFill>
                  <a:srgbClr val="1F2129"/>
                </a:solidFill>
                <a:latin typeface="Consolas"/>
              </a:rPr>
              <a:t>    .snapshots();</a:t>
            </a:r>
          </a:p>
        </p:txBody>
      </p:sp>
      <p:sp>
        <p:nvSpPr>
          <p:cNvPr id="9" name="TextBox 8"/>
          <p:cNvSpPr txBox="1"/>
          <p:nvPr/>
        </p:nvSpPr>
        <p:spPr>
          <a:xfrm>
            <a:off x="502920" y="3393440"/>
            <a:ext cx="11183112" cy="495300"/>
          </a:xfrm>
          <a:prstGeom prst="rect">
            <a:avLst/>
          </a:prstGeom>
          <a:noFill/>
        </p:spPr>
        <p:txBody>
          <a:bodyPr wrap="square">
            <a:spAutoFit/>
          </a:bodyPr>
          <a:lstStyle/>
          <a:p>
            <a:pPr algn="l">
              <a:spcAft>
                <a:spcPts val="600"/>
              </a:spcAft>
            </a:pPr>
            <a:r>
              <a:rPr sz="1800">
                <a:solidFill>
                  <a:srgbClr val="1F2129"/>
                </a:solidFill>
                <a:latin typeface="Calibri"/>
              </a:rPr>
              <a:t>The required composite index, declared in firestore.indexes.json:</a:t>
            </a:r>
          </a:p>
        </p:txBody>
      </p:sp>
      <p:sp>
        <p:nvSpPr>
          <p:cNvPr id="10" name="Rounded Rectangle 9"/>
          <p:cNvSpPr/>
          <p:nvPr/>
        </p:nvSpPr>
        <p:spPr>
          <a:xfrm>
            <a:off x="502920" y="3934460"/>
            <a:ext cx="11183112" cy="16141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a:t>
            </a:r>
          </a:p>
          <a:p>
            <a:pPr algn="l">
              <a:spcAft>
                <a:spcPts val="0"/>
              </a:spcAft>
            </a:pPr>
            <a:r>
              <a:rPr sz="1300">
                <a:solidFill>
                  <a:srgbClr val="1F2129"/>
                </a:solidFill>
                <a:latin typeface="Consolas"/>
              </a:rPr>
              <a:t>  "collectionGroup": "sessions",</a:t>
            </a:r>
          </a:p>
          <a:p>
            <a:pPr algn="l">
              <a:spcAft>
                <a:spcPts val="0"/>
              </a:spcAft>
            </a:pPr>
            <a:r>
              <a:rPr sz="1300">
                <a:solidFill>
                  <a:srgbClr val="1F2129"/>
                </a:solidFill>
                <a:latin typeface="Consolas"/>
              </a:rPr>
              <a:t>  "fields": [</a:t>
            </a:r>
          </a:p>
          <a:p>
            <a:pPr algn="l">
              <a:spcAft>
                <a:spcPts val="0"/>
              </a:spcAft>
            </a:pPr>
            <a:r>
              <a:rPr sz="1300">
                <a:solidFill>
                  <a:srgbClr val="1F2129"/>
                </a:solidFill>
                <a:latin typeface="Consolas"/>
              </a:rPr>
              <a:t>    { "fieldPath": "memberIds", "arrayConfig": "CONTAINS" },</a:t>
            </a:r>
          </a:p>
          <a:p>
            <a:pPr algn="l">
              <a:spcAft>
                <a:spcPts val="0"/>
              </a:spcAft>
            </a:pPr>
            <a:r>
              <a:rPr sz="1300">
                <a:solidFill>
                  <a:srgbClr val="1F2129"/>
                </a:solidFill>
                <a:latin typeface="Consolas"/>
              </a:rPr>
              <a:t>    { "fieldPath": "updatedAt", "order": "DESCENDING" }</a:t>
            </a:r>
          </a:p>
          <a:p>
            <a:pPr algn="l">
              <a:spcAft>
                <a:spcPts val="0"/>
              </a:spcAft>
            </a:pPr>
            <a:r>
              <a:rPr sz="1300">
                <a:solidFill>
                  <a:srgbClr val="1F2129"/>
                </a:solidFill>
                <a:latin typeface="Consolas"/>
              </a:rPr>
              <a:t>  ]</a:t>
            </a:r>
          </a:p>
          <a:p>
            <a:pPr algn="l">
              <a:spcAft>
                <a:spcPts val="0"/>
              </a:spcAft>
            </a:pPr>
            <a:r>
              <a:rPr sz="1300">
                <a:solidFill>
                  <a:srgbClr val="1F2129"/>
                </a:solidFill>
                <a:latin typeface="Consolas"/>
              </a:rPr>
              <a:t>}</a:t>
            </a:r>
          </a:p>
        </p:txBody>
      </p:sp>
      <p:sp>
        <p:nvSpPr>
          <p:cNvPr id="11" name="TextBox 10"/>
          <p:cNvSpPr txBox="1"/>
          <p:nvPr/>
        </p:nvSpPr>
        <p:spPr>
          <a:xfrm>
            <a:off x="502920" y="5685789"/>
            <a:ext cx="11183112" cy="825500"/>
          </a:xfrm>
          <a:prstGeom prst="rect">
            <a:avLst/>
          </a:prstGeom>
          <a:noFill/>
        </p:spPr>
        <p:txBody>
          <a:bodyPr wrap="square">
            <a:spAutoFit/>
          </a:bodyPr>
          <a:lstStyle/>
          <a:p>
            <a:pPr algn="l">
              <a:spcAft>
                <a:spcPts val="600"/>
              </a:spcAft>
            </a:pPr>
            <a:r>
              <a:rPr sz="1800">
                <a:solidFill>
                  <a:srgbClr val="1F2129"/>
                </a:solidFill>
                <a:latin typeface="Calibri"/>
              </a:rPr>
              <a:t>Write-amplifying:  N members  -&gt;  N index entries per updatedAt bump</a:t>
            </a:r>
          </a:p>
          <a:p>
            <a:pPr algn="l">
              <a:spcAft>
                <a:spcPts val="600"/>
              </a:spcAft>
            </a:pPr>
            <a:r>
              <a:rPr sz="1800">
                <a:solidFill>
                  <a:srgbClr val="1F2129"/>
                </a:solidFill>
                <a:latin typeface="Calibri"/>
              </a:rPr>
              <a:t>50-member cap keeps every session well under Firestore's 40 KiB index budget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Auth-scoped rule: users can only touch themselves</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Q12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691640"/>
            <a:ext cx="11183112" cy="22047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match /users/{uid} {</a:t>
            </a:r>
          </a:p>
          <a:p>
            <a:pPr algn="l">
              <a:spcAft>
                <a:spcPts val="0"/>
              </a:spcAft>
            </a:pPr>
            <a:r>
              <a:rPr sz="1300">
                <a:solidFill>
                  <a:srgbClr val="1F2129"/>
                </a:solidFill>
                <a:latin typeface="Consolas"/>
              </a:rPr>
              <a:t>  allow read:   if isSelf(uid);</a:t>
            </a:r>
          </a:p>
          <a:p>
            <a:pPr algn="l">
              <a:spcAft>
                <a:spcPts val="0"/>
              </a:spcAft>
            </a:pPr>
            <a:r>
              <a:rPr sz="1300">
                <a:solidFill>
                  <a:srgbClr val="1F2129"/>
                </a:solidFill>
                <a:latin typeface="Consolas"/>
              </a:rPr>
              <a:t>  allow create: if isSelf(uid);</a:t>
            </a:r>
          </a:p>
          <a:p>
            <a:pPr algn="l">
              <a:spcAft>
                <a:spcPts val="0"/>
              </a:spcAft>
            </a:pPr>
            <a:r>
              <a:rPr sz="1300">
                <a:solidFill>
                  <a:srgbClr val="1F2129"/>
                </a:solidFill>
                <a:latin typeface="Consolas"/>
              </a:rPr>
              <a:t>  allow update: if isSelf(uid);</a:t>
            </a:r>
          </a:p>
          <a:p>
            <a:pPr algn="l">
              <a:spcAft>
                <a:spcPts val="0"/>
              </a:spcAft>
            </a:pPr>
            <a:r>
              <a:rPr sz="1300">
                <a:solidFill>
                  <a:srgbClr val="1F2129"/>
                </a:solidFill>
                <a:latin typeface="Consolas"/>
              </a:rPr>
              <a:t>  allow delete: if false;</a:t>
            </a:r>
          </a:p>
          <a:p>
            <a:pPr algn="l">
              <a:spcAft>
                <a:spcPts val="0"/>
              </a:spcAft>
            </a:pPr>
            <a:r>
              <a:rPr sz="1300">
                <a:solidFill>
                  <a:srgbClr val="1F2129"/>
                </a:solidFill>
                <a:latin typeface="Consolas"/>
              </a:rPr>
              <a:t>}</a:t>
            </a:r>
          </a:p>
          <a:p>
            <a:pPr algn="l">
              <a:spcAft>
                <a:spcPts val="0"/>
              </a:spcAft>
            </a:pPr>
            <a:r>
              <a:rPr sz="1300">
                <a:solidFill>
                  <a:srgbClr val="1F2129"/>
                </a:solidFill>
                <a:latin typeface="Consolas"/>
              </a:rPr>
              <a:t> </a:t>
            </a:r>
          </a:p>
          <a:p>
            <a:pPr algn="l">
              <a:spcAft>
                <a:spcPts val="0"/>
              </a:spcAft>
            </a:pPr>
            <a:r>
              <a:rPr sz="1300">
                <a:solidFill>
                  <a:srgbClr val="1F2129"/>
                </a:solidFill>
                <a:latin typeface="Consolas"/>
              </a:rPr>
              <a:t>function isSelf(uid) {</a:t>
            </a:r>
          </a:p>
          <a:p>
            <a:pPr algn="l">
              <a:spcAft>
                <a:spcPts val="0"/>
              </a:spcAft>
            </a:pPr>
            <a:r>
              <a:rPr sz="1300">
                <a:solidFill>
                  <a:srgbClr val="1F2129"/>
                </a:solidFill>
                <a:latin typeface="Consolas"/>
              </a:rPr>
              <a:t>  return isSignedIn() &amp;&amp; request.auth.uid == uid;</a:t>
            </a:r>
          </a:p>
          <a:p>
            <a:pPr algn="l">
              <a:spcAft>
                <a:spcPts val="0"/>
              </a:spcAft>
            </a:pPr>
            <a:r>
              <a:rPr sz="1300">
                <a:solidFill>
                  <a:srgbClr val="1F2129"/>
                </a:solidFill>
                <a:latin typeface="Consolas"/>
              </a:rPr>
              <a:t>}</a:t>
            </a:r>
          </a:p>
        </p:txBody>
      </p:sp>
      <p:sp>
        <p:nvSpPr>
          <p:cNvPr id="8" name="TextBox 7"/>
          <p:cNvSpPr txBox="1"/>
          <p:nvPr/>
        </p:nvSpPr>
        <p:spPr>
          <a:xfrm>
            <a:off x="502920" y="4033520"/>
            <a:ext cx="11183112" cy="1155700"/>
          </a:xfrm>
          <a:prstGeom prst="rect">
            <a:avLst/>
          </a:prstGeom>
          <a:noFill/>
        </p:spPr>
        <p:txBody>
          <a:bodyPr wrap="square">
            <a:spAutoFit/>
          </a:bodyPr>
          <a:lstStyle/>
          <a:p>
            <a:pPr algn="l">
              <a:spcAft>
                <a:spcPts val="600"/>
              </a:spcAft>
            </a:pPr>
            <a:r>
              <a:rPr sz="1800">
                <a:solidFill>
                  <a:srgbClr val="1F2129"/>
                </a:solidFill>
                <a:latin typeface="Calibri"/>
              </a:rPr>
              <a:t>Unauthenticated:  request.auth == null  -&gt; isSignedIn() false  -&gt; denied</a:t>
            </a:r>
          </a:p>
          <a:p>
            <a:pPr algn="l">
              <a:spcAft>
                <a:spcPts val="600"/>
              </a:spcAft>
            </a:pPr>
            <a:r>
              <a:rPr sz="1800">
                <a:solidFill>
                  <a:srgbClr val="1F2129"/>
                </a:solidFill>
                <a:latin typeface="Calibri"/>
              </a:rPr>
              <a:t>Wrong UID:  request.auth.uid != uid  -&gt; denied</a:t>
            </a:r>
          </a:p>
          <a:p>
            <a:pPr algn="l">
              <a:spcAft>
                <a:spcPts val="600"/>
              </a:spcAft>
            </a:pPr>
            <a:r>
              <a:rPr sz="1800">
                <a:solidFill>
                  <a:srgbClr val="1F2129"/>
                </a:solidFill>
                <a:latin typeface="Calibri"/>
              </a:rPr>
              <a:t>Hard-off delete:  cleanup goes through a Cloud Function (Admin SDK bypasses rules)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FCM token lifecycle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Q13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146300"/>
          </a:xfrm>
          <a:prstGeom prst="rect">
            <a:avLst/>
          </a:prstGeom>
          <a:noFill/>
        </p:spPr>
        <p:txBody>
          <a:bodyPr wrap="square">
            <a:spAutoFit/>
          </a:bodyPr>
          <a:lstStyle/>
          <a:p>
            <a:pPr algn="l">
              <a:spcAft>
                <a:spcPts val="600"/>
              </a:spcAft>
            </a:pPr>
            <a:r>
              <a:rPr sz="1800">
                <a:solidFill>
                  <a:srgbClr val="1F2129"/>
                </a:solidFill>
                <a:latin typeface="Calibri"/>
              </a:rPr>
              <a:t>1.  Sign-in   -&gt; requestPermission()</a:t>
            </a:r>
          </a:p>
          <a:p>
            <a:pPr algn="l">
              <a:spcAft>
                <a:spcPts val="600"/>
              </a:spcAft>
            </a:pPr>
            <a:r>
              <a:rPr sz="1800">
                <a:solidFill>
                  <a:srgbClr val="1F2129"/>
                </a:solidFill>
                <a:latin typeface="Calibri"/>
              </a:rPr>
              <a:t>2.  getToken()  -&gt; users/{uid}.fcmTokens (array, multi-device)</a:t>
            </a:r>
          </a:p>
          <a:p>
            <a:pPr algn="l">
              <a:spcAft>
                <a:spcPts val="600"/>
              </a:spcAft>
            </a:pPr>
            <a:r>
              <a:rPr sz="1800">
                <a:solidFill>
                  <a:srgbClr val="1F2129"/>
                </a:solidFill>
                <a:latin typeface="Calibri"/>
              </a:rPr>
              <a:t>3.  onTokenRefresh -&gt; arrayUnion(new) + arrayRemove(old)</a:t>
            </a:r>
          </a:p>
          <a:p>
            <a:pPr algn="l">
              <a:spcAft>
                <a:spcPts val="600"/>
              </a:spcAft>
            </a:pPr>
            <a:r>
              <a:rPr sz="1800">
                <a:solidFill>
                  <a:srgbClr val="1F2129"/>
                </a:solidFill>
                <a:latin typeface="Calibri"/>
              </a:rPr>
              <a:t>4.  Foreground   -&gt; SnackBar via active ScaffoldMessenger</a:t>
            </a:r>
          </a:p>
          <a:p>
            <a:pPr algn="l">
              <a:spcAft>
                <a:spcPts val="600"/>
              </a:spcAft>
            </a:pPr>
            <a:r>
              <a:rPr sz="1800">
                <a:solidFill>
                  <a:srgbClr val="1F2129"/>
                </a:solidFill>
                <a:latin typeface="Calibri"/>
              </a:rPr>
              <a:t>5.  Background / terminated -&gt; top-level vibzcheckFcmBackgroundHandler (registered before runApp)</a:t>
            </a:r>
          </a:p>
          <a:p>
            <a:pPr algn="l">
              <a:spcAft>
                <a:spcPts val="600"/>
              </a:spcAft>
            </a:pPr>
            <a:r>
              <a:rPr sz="1800">
                <a:solidFill>
                  <a:srgbClr val="1F2129"/>
                </a:solidFill>
                <a:latin typeface="Calibri"/>
              </a:rPr>
              <a:t>6.  Sign-out -&gt; arrayRemove old token (re-used device stops getting prior user's pushes)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Sync bug: voting twice didn't zero the score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Q3  -  Implementation (sync)</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495300"/>
          </a:xfrm>
          <a:prstGeom prst="rect">
            <a:avLst/>
          </a:prstGeom>
          <a:noFill/>
        </p:spPr>
        <p:txBody>
          <a:bodyPr wrap="square">
            <a:spAutoFit/>
          </a:bodyPr>
          <a:lstStyle/>
          <a:p>
            <a:pPr algn="l">
              <a:spcAft>
                <a:spcPts val="600"/>
              </a:spcAft>
            </a:pPr>
            <a:r>
              <a:rPr sz="1800">
                <a:solidFill>
                  <a:srgbClr val="1F2129"/>
                </a:solidFill>
                <a:latin typeface="Calibri"/>
              </a:rPr>
              <a:t>Before (subtly wrong - real Firestore preserves null map entries):</a:t>
            </a:r>
          </a:p>
        </p:txBody>
      </p:sp>
      <p:sp>
        <p:nvSpPr>
          <p:cNvPr id="8" name="Rounded Rectangle 7"/>
          <p:cNvSpPr/>
          <p:nvPr/>
        </p:nvSpPr>
        <p:spPr>
          <a:xfrm>
            <a:off x="502920" y="2232660"/>
            <a:ext cx="11183112" cy="43307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votes[uid] = null;</a:t>
            </a:r>
          </a:p>
        </p:txBody>
      </p:sp>
      <p:sp>
        <p:nvSpPr>
          <p:cNvPr id="9" name="TextBox 8"/>
          <p:cNvSpPr txBox="1"/>
          <p:nvPr/>
        </p:nvSpPr>
        <p:spPr>
          <a:xfrm>
            <a:off x="502920" y="2802890"/>
            <a:ext cx="11183112" cy="495300"/>
          </a:xfrm>
          <a:prstGeom prst="rect">
            <a:avLst/>
          </a:prstGeom>
          <a:noFill/>
        </p:spPr>
        <p:txBody>
          <a:bodyPr wrap="square">
            <a:spAutoFit/>
          </a:bodyPr>
          <a:lstStyle/>
          <a:p>
            <a:pPr algn="l">
              <a:spcAft>
                <a:spcPts val="600"/>
              </a:spcAft>
            </a:pPr>
            <a:r>
              <a:rPr sz="1800">
                <a:solidFill>
                  <a:srgbClr val="1F2129"/>
                </a:solidFill>
                <a:latin typeface="Calibri"/>
              </a:rPr>
              <a:t>After (atomic, transaction-safe):</a:t>
            </a:r>
          </a:p>
        </p:txBody>
      </p:sp>
      <p:sp>
        <p:nvSpPr>
          <p:cNvPr id="10" name="Rounded Rectangle 9"/>
          <p:cNvSpPr/>
          <p:nvPr/>
        </p:nvSpPr>
        <p:spPr>
          <a:xfrm>
            <a:off x="502920" y="3343910"/>
            <a:ext cx="11183112" cy="14173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if (effectiveVote == 0) {</a:t>
            </a:r>
          </a:p>
          <a:p>
            <a:pPr algn="l">
              <a:spcAft>
                <a:spcPts val="0"/>
              </a:spcAft>
            </a:pPr>
            <a:r>
              <a:rPr sz="1300">
                <a:solidFill>
                  <a:srgbClr val="1F2129"/>
                </a:solidFill>
                <a:latin typeface="Consolas"/>
              </a:rPr>
              <a:t>  updates['votes.\$uid'] = FieldValue.delete();</a:t>
            </a:r>
          </a:p>
          <a:p>
            <a:pPr algn="l">
              <a:spcAft>
                <a:spcPts val="0"/>
              </a:spcAft>
            </a:pPr>
            <a:r>
              <a:rPr sz="1300">
                <a:solidFill>
                  <a:srgbClr val="1F2129"/>
                </a:solidFill>
                <a:latin typeface="Consolas"/>
              </a:rPr>
              <a:t>} else {</a:t>
            </a:r>
          </a:p>
          <a:p>
            <a:pPr algn="l">
              <a:spcAft>
                <a:spcPts val="0"/>
              </a:spcAft>
            </a:pPr>
            <a:r>
              <a:rPr sz="1300">
                <a:solidFill>
                  <a:srgbClr val="1F2129"/>
                </a:solidFill>
                <a:latin typeface="Consolas"/>
              </a:rPr>
              <a:t>  updates['votes.\$uid'] = effectiveVote;</a:t>
            </a:r>
          </a:p>
          <a:p>
            <a:pPr algn="l">
              <a:spcAft>
                <a:spcPts val="0"/>
              </a:spcAft>
            </a:pPr>
            <a:r>
              <a:rPr sz="1300">
                <a:solidFill>
                  <a:srgbClr val="1F2129"/>
                </a:solidFill>
                <a:latin typeface="Consolas"/>
              </a:rPr>
              <a:t>}</a:t>
            </a:r>
          </a:p>
          <a:p>
            <a:pPr algn="l">
              <a:spcAft>
                <a:spcPts val="0"/>
              </a:spcAft>
            </a:pPr>
            <a:r>
              <a:rPr sz="1300">
                <a:solidFill>
                  <a:srgbClr val="1F2129"/>
                </a:solidFill>
                <a:latin typeface="Consolas"/>
              </a:rPr>
              <a:t>tx.update(trackRef, updates);</a:t>
            </a:r>
          </a:p>
        </p:txBody>
      </p:sp>
      <p:sp>
        <p:nvSpPr>
          <p:cNvPr id="11" name="TextBox 10"/>
          <p:cNvSpPr txBox="1"/>
          <p:nvPr/>
        </p:nvSpPr>
        <p:spPr>
          <a:xfrm>
            <a:off x="502920" y="4898390"/>
            <a:ext cx="11183112" cy="495300"/>
          </a:xfrm>
          <a:prstGeom prst="rect">
            <a:avLst/>
          </a:prstGeom>
          <a:noFill/>
        </p:spPr>
        <p:txBody>
          <a:bodyPr wrap="square">
            <a:spAutoFit/>
          </a:bodyPr>
          <a:lstStyle/>
          <a:p>
            <a:pPr algn="l">
              <a:spcAft>
                <a:spcPts val="600"/>
              </a:spcAft>
            </a:pPr>
            <a:r>
              <a:rPr sz="1800">
                <a:solidFill>
                  <a:srgbClr val="1F2129"/>
                </a:solidFill>
                <a:latin typeface="Calibri"/>
              </a:rPr>
              <a:t>Pinned by the 'upvoting twice toggles the vote off' test in queue_repository_test.dart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Failure-case ownership: narrowed rethrow + mock fallback</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Q7 + Q2  -  Testing + Implementation (rework)</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691640"/>
            <a:ext cx="11183112" cy="16141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 on FirebaseFunctionsException catch (e, stack) {</a:t>
            </a:r>
          </a:p>
          <a:p>
            <a:pPr algn="l">
              <a:spcAft>
                <a:spcPts val="0"/>
              </a:spcAft>
            </a:pPr>
            <a:r>
              <a:rPr sz="1300">
                <a:solidFill>
                  <a:srgbClr val="1F2129"/>
                </a:solidFill>
                <a:latin typeface="Consolas"/>
              </a:rPr>
              <a:t>  if (e.code == 'unauthenticated' ||</a:t>
            </a:r>
          </a:p>
          <a:p>
            <a:pPr algn="l">
              <a:spcAft>
                <a:spcPts val="0"/>
              </a:spcAft>
            </a:pPr>
            <a:r>
              <a:rPr sz="1300">
                <a:solidFill>
                  <a:srgbClr val="1F2129"/>
                </a:solidFill>
                <a:latin typeface="Consolas"/>
              </a:rPr>
              <a:t>      e.code == 'failed-precondition') {</a:t>
            </a:r>
          </a:p>
          <a:p>
            <a:pPr algn="l">
              <a:spcAft>
                <a:spcPts val="0"/>
              </a:spcAft>
            </a:pPr>
            <a:r>
              <a:rPr sz="1300">
                <a:solidFill>
                  <a:srgbClr val="1F2129"/>
                </a:solidFill>
                <a:latin typeface="Consolas"/>
              </a:rPr>
              <a:t>    rethrow;   // user / config errors fallback can't fix</a:t>
            </a:r>
          </a:p>
          <a:p>
            <a:pPr algn="l">
              <a:spcAft>
                <a:spcPts val="0"/>
              </a:spcAft>
            </a:pPr>
            <a:r>
              <a:rPr sz="1300">
                <a:solidFill>
                  <a:srgbClr val="1F2129"/>
                </a:solidFill>
                <a:latin typeface="Consolas"/>
              </a:rPr>
              <a:t>  }</a:t>
            </a:r>
          </a:p>
          <a:p>
            <a:pPr algn="l">
              <a:spcAft>
                <a:spcPts val="0"/>
              </a:spcAft>
            </a:pPr>
            <a:r>
              <a:rPr sz="1300">
                <a:solidFill>
                  <a:srgbClr val="1F2129"/>
                </a:solidFill>
                <a:latin typeface="Consolas"/>
              </a:rPr>
              <a:t>  return _fallback.search(query);  // mock catalogue</a:t>
            </a:r>
          </a:p>
          <a:p>
            <a:pPr algn="l">
              <a:spcAft>
                <a:spcPts val="0"/>
              </a:spcAft>
            </a:pPr>
            <a:r>
              <a:rPr sz="1300">
                <a:solidFill>
                  <a:srgbClr val="1F2129"/>
                </a:solidFill>
                <a:latin typeface="Consolas"/>
              </a:rPr>
              <a:t>}</a:t>
            </a:r>
          </a:p>
        </p:txBody>
      </p:sp>
      <p:sp>
        <p:nvSpPr>
          <p:cNvPr id="8" name="TextBox 7"/>
          <p:cNvSpPr txBox="1"/>
          <p:nvPr/>
        </p:nvSpPr>
        <p:spPr>
          <a:xfrm>
            <a:off x="502920" y="3442969"/>
            <a:ext cx="11183112" cy="1155700"/>
          </a:xfrm>
          <a:prstGeom prst="rect">
            <a:avLst/>
          </a:prstGeom>
          <a:noFill/>
        </p:spPr>
        <p:txBody>
          <a:bodyPr wrap="square">
            <a:spAutoFit/>
          </a:bodyPr>
          <a:lstStyle/>
          <a:p>
            <a:pPr algn="l">
              <a:spcAft>
                <a:spcPts val="600"/>
              </a:spcAft>
            </a:pPr>
            <a:r>
              <a:rPr sz="1800">
                <a:solidFill>
                  <a:srgbClr val="1F2129"/>
                </a:solidFill>
                <a:latin typeface="Calibri"/>
              </a:rPr>
              <a:t>Add-track screen reworked: no more auto-empty search on mount</a:t>
            </a:r>
          </a:p>
          <a:p>
            <a:pPr algn="l">
              <a:spcAft>
                <a:spcPts val="600"/>
              </a:spcAft>
            </a:pPr>
            <a:r>
              <a:rPr sz="1800">
                <a:solidFill>
                  <a:srgbClr val="1F2129"/>
                </a:solidFill>
                <a:latin typeface="Calibri"/>
              </a:rPr>
              <a:t>Empty state now reads: 'Type a song, artist, or album to search Spotify.'</a:t>
            </a:r>
          </a:p>
          <a:p>
            <a:pPr algn="l">
              <a:spcAft>
                <a:spcPts val="600"/>
              </a:spcAft>
            </a:pPr>
            <a:r>
              <a:rPr sz="1800">
                <a:solidFill>
                  <a:srgbClr val="1F2129"/>
                </a:solidFill>
                <a:latin typeface="Calibri"/>
              </a:rPr>
              <a:t>Saves a function invocation + Spotify quota every time the screen is opened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Auth-error UX: account enumeration is a feature flag I left OFF</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Q8  -  Testing</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691640"/>
            <a:ext cx="11183112" cy="82677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user-not-found      -+</a:t>
            </a:r>
          </a:p>
          <a:p>
            <a:pPr algn="l">
              <a:spcAft>
                <a:spcPts val="0"/>
              </a:spcAft>
            </a:pPr>
            <a:r>
              <a:rPr sz="1300">
                <a:solidFill>
                  <a:srgbClr val="1F2129"/>
                </a:solidFill>
                <a:latin typeface="Consolas"/>
              </a:rPr>
              <a:t>wrong-password      +--&gt;  'Email or password is incorrect.'</a:t>
            </a:r>
          </a:p>
          <a:p>
            <a:pPr algn="l">
              <a:spcAft>
                <a:spcPts val="0"/>
              </a:spcAft>
            </a:pPr>
            <a:r>
              <a:rPr sz="1300">
                <a:solidFill>
                  <a:srgbClr val="1F2129"/>
                </a:solidFill>
                <a:latin typeface="Consolas"/>
              </a:rPr>
              <a:t>invalid-credential  -+</a:t>
            </a:r>
          </a:p>
        </p:txBody>
      </p:sp>
      <p:sp>
        <p:nvSpPr>
          <p:cNvPr id="8" name="TextBox 7"/>
          <p:cNvSpPr txBox="1"/>
          <p:nvPr/>
        </p:nvSpPr>
        <p:spPr>
          <a:xfrm>
            <a:off x="502920" y="2655570"/>
            <a:ext cx="11183112" cy="1485900"/>
          </a:xfrm>
          <a:prstGeom prst="rect">
            <a:avLst/>
          </a:prstGeom>
          <a:noFill/>
        </p:spPr>
        <p:txBody>
          <a:bodyPr wrap="square">
            <a:spAutoFit/>
          </a:bodyPr>
          <a:lstStyle/>
          <a:p>
            <a:pPr algn="l">
              <a:spcAft>
                <a:spcPts val="600"/>
              </a:spcAft>
            </a:pPr>
            <a:r>
              <a:rPr sz="1800">
                <a:solidFill>
                  <a:srgbClr val="1F2129"/>
                </a:solidFill>
                <a:latin typeface="Calibri"/>
              </a:rPr>
              <a:t>Three different Firebase codes deliberately collapsed into ONE line</a:t>
            </a:r>
          </a:p>
          <a:p>
            <a:pPr algn="l">
              <a:spcAft>
                <a:spcPts val="600"/>
              </a:spcAft>
            </a:pPr>
            <a:r>
              <a:rPr sz="1800">
                <a:solidFill>
                  <a:srgbClr val="1F2129"/>
                </a:solidFill>
                <a:latin typeface="Calibri"/>
              </a:rPr>
              <a:t>Stops attackers from enumerating which emails have accounts</a:t>
            </a:r>
          </a:p>
          <a:p>
            <a:pPr algn="l">
              <a:spcAft>
                <a:spcPts val="600"/>
              </a:spcAft>
            </a:pPr>
            <a:r>
              <a:rPr sz="1800">
                <a:solidFill>
                  <a:srgbClr val="1F2129"/>
                </a:solidFill>
                <a:latin typeface="Calibri"/>
              </a:rPr>
              <a:t>11 cases pinned in test/features/auth/auth_error_messages_test.dart</a:t>
            </a:r>
          </a:p>
          <a:p>
            <a:pPr algn="l">
              <a:spcAft>
                <a:spcPts val="600"/>
              </a:spcAft>
            </a:pPr>
            <a:r>
              <a:rPr sz="1800">
                <a:solidFill>
                  <a:srgbClr val="1F2129"/>
                </a:solidFill>
                <a:latin typeface="Calibri"/>
              </a:rPr>
              <a:t>Future change to the switch is forced to ship with a paired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Performance: profile the right side of the wire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Q9  -  Testing</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495300"/>
          </a:xfrm>
          <a:prstGeom prst="rect">
            <a:avLst/>
          </a:prstGeom>
          <a:noFill/>
        </p:spPr>
        <p:txBody>
          <a:bodyPr wrap="square">
            <a:spAutoFit/>
          </a:bodyPr>
          <a:lstStyle/>
          <a:p>
            <a:pPr algn="l">
              <a:spcAft>
                <a:spcPts val="600"/>
              </a:spcAft>
            </a:pPr>
            <a:r>
              <a:rPr sz="1800">
                <a:solidFill>
                  <a:srgbClr val="1F2129"/>
                </a:solidFill>
                <a:latin typeface="Calibri"/>
              </a:rPr>
              <a:t>Symptom: home-screen sessions list spun forever for both emulators</a:t>
            </a:r>
          </a:p>
        </p:txBody>
      </p:sp>
      <p:sp>
        <p:nvSpPr>
          <p:cNvPr id="8" name="Rounded Rectangle 7"/>
          <p:cNvSpPr/>
          <p:nvPr/>
        </p:nvSpPr>
        <p:spPr>
          <a:xfrm>
            <a:off x="502920" y="2232660"/>
            <a:ext cx="11183112" cy="14173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 adb logcat | rg FAILED_PRECONDITION</a:t>
            </a:r>
          </a:p>
          <a:p>
            <a:pPr algn="l">
              <a:spcAft>
                <a:spcPts val="0"/>
              </a:spcAft>
            </a:pPr>
            <a:r>
              <a:rPr sz="1300">
                <a:solidFill>
                  <a:srgbClr val="1F2129"/>
                </a:solidFill>
                <a:latin typeface="Consolas"/>
              </a:rPr>
              <a:t>FAILED_PRECONDITION: The query requires an index.</a:t>
            </a:r>
          </a:p>
          <a:p>
            <a:pPr algn="l">
              <a:spcAft>
                <a:spcPts val="0"/>
              </a:spcAft>
            </a:pPr>
            <a:r>
              <a:rPr sz="1300">
                <a:solidFill>
                  <a:srgbClr val="1F2129"/>
                </a:solidFill>
                <a:latin typeface="Consolas"/>
              </a:rPr>
              <a:t>  You can create it here: https://console.firebase...</a:t>
            </a:r>
          </a:p>
          <a:p>
            <a:pPr algn="l">
              <a:spcAft>
                <a:spcPts val="0"/>
              </a:spcAft>
            </a:pPr>
            <a:r>
              <a:rPr sz="1300">
                <a:solidFill>
                  <a:srgbClr val="1F2129"/>
                </a:solidFill>
                <a:latin typeface="Consolas"/>
              </a:rPr>
              <a:t> </a:t>
            </a:r>
          </a:p>
          <a:p>
            <a:pPr algn="l">
              <a:spcAft>
                <a:spcPts val="0"/>
              </a:spcAft>
            </a:pPr>
            <a:r>
              <a:rPr sz="1300">
                <a:solidFill>
                  <a:srgbClr val="1F2129"/>
                </a:solidFill>
                <a:latin typeface="Consolas"/>
              </a:rPr>
              <a:t>(after index deploy)</a:t>
            </a:r>
          </a:p>
          <a:p>
            <a:pPr algn="l">
              <a:spcAft>
                <a:spcPts val="0"/>
              </a:spcAft>
            </a:pPr>
            <a:r>
              <a:rPr sz="1300">
                <a:solidFill>
                  <a:srgbClr val="1F2129"/>
                </a:solidFill>
                <a:latin typeface="Consolas"/>
              </a:rPr>
              <a:t>first emission resolved in 187 ms</a:t>
            </a:r>
          </a:p>
        </p:txBody>
      </p:sp>
      <p:sp>
        <p:nvSpPr>
          <p:cNvPr id="9" name="TextBox 8"/>
          <p:cNvSpPr txBox="1"/>
          <p:nvPr/>
        </p:nvSpPr>
        <p:spPr>
          <a:xfrm>
            <a:off x="502920" y="3787140"/>
            <a:ext cx="11183112" cy="1155700"/>
          </a:xfrm>
          <a:prstGeom prst="rect">
            <a:avLst/>
          </a:prstGeom>
          <a:noFill/>
        </p:spPr>
        <p:txBody>
          <a:bodyPr wrap="square">
            <a:spAutoFit/>
          </a:bodyPr>
          <a:lstStyle/>
          <a:p>
            <a:pPr algn="l">
              <a:spcAft>
                <a:spcPts val="600"/>
              </a:spcAft>
            </a:pPr>
            <a:r>
              <a:rPr sz="1800">
                <a:solidFill>
                  <a:srgbClr val="1F2129"/>
                </a:solidFill>
                <a:latin typeface="Calibri"/>
              </a:rPr>
              <a:t>Fix: composite index added to firestore.indexes.json (reproducible, in source)</a:t>
            </a:r>
          </a:p>
          <a:p>
            <a:pPr algn="l">
              <a:spcAft>
                <a:spcPts val="600"/>
              </a:spcAft>
            </a:pPr>
            <a:r>
              <a:rPr sz="1800">
                <a:solidFill>
                  <a:srgbClr val="1F2129"/>
                </a:solidFill>
                <a:latin typeface="Calibri"/>
              </a:rPr>
              <a:t>Same playbook fixed an identical bug in the queue listener (Bug 4)</a:t>
            </a:r>
          </a:p>
          <a:p>
            <a:pPr algn="l">
              <a:spcAft>
                <a:spcPts val="600"/>
              </a:spcAft>
            </a:pPr>
            <a:r>
              <a:rPr sz="1800">
                <a:solidFill>
                  <a:srgbClr val="1F2129"/>
                </a:solidFill>
                <a:latin typeface="Calibri"/>
              </a:rPr>
              <a:t>Takeaway: when a request leaves the device, look at the SERVER's logs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AI helper + graduate-level fairness ranker</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Supports Q1  -  responsible AI angle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3467100"/>
          </a:xfrm>
          <a:prstGeom prst="rect">
            <a:avLst/>
          </a:prstGeom>
          <a:noFill/>
        </p:spPr>
        <p:txBody>
          <a:bodyPr wrap="square">
            <a:spAutoFit/>
          </a:bodyPr>
          <a:lstStyle/>
          <a:p>
            <a:pPr algn="l">
              <a:spcAft>
                <a:spcPts val="600"/>
              </a:spcAft>
            </a:pPr>
            <a:r>
              <a:rPr sz="1800">
                <a:solidFill>
                  <a:srgbClr val="1F2129"/>
                </a:solidFill>
                <a:latin typeface="Calibri"/>
              </a:rPr>
              <a:t>TrackRecommender (rule-based, 100% explainable):</a:t>
            </a:r>
          </a:p>
          <a:p>
            <a:pPr algn="l">
              <a:spcAft>
                <a:spcPts val="600"/>
              </a:spcAft>
            </a:pPr>
            <a:r>
              <a:rPr sz="1800">
                <a:solidFill>
                  <a:srgbClr val="1F2129"/>
                </a:solidFill>
                <a:latin typeface="Calibri"/>
              </a:rPr>
              <a:t>    -  Mood match against current session mood</a:t>
            </a:r>
          </a:p>
          <a:p>
            <a:pPr algn="l">
              <a:spcAft>
                <a:spcPts val="600"/>
              </a:spcAft>
            </a:pPr>
            <a:r>
              <a:rPr sz="1800">
                <a:solidFill>
                  <a:srgbClr val="1F2129"/>
                </a:solidFill>
                <a:latin typeface="Calibri"/>
              </a:rPr>
              <a:t>    -  Genre overlap against members' favourites</a:t>
            </a:r>
          </a:p>
          <a:p>
            <a:pPr algn="l">
              <a:spcAft>
                <a:spcPts val="600"/>
              </a:spcAft>
            </a:pPr>
            <a:r>
              <a:rPr sz="1800">
                <a:solidFill>
                  <a:srgbClr val="1F2129"/>
                </a:solidFill>
                <a:latin typeface="Calibri"/>
              </a:rPr>
              <a:t>    -  Variety penalty if same artist already dominates</a:t>
            </a:r>
          </a:p>
          <a:p>
            <a:pPr algn="l">
              <a:spcAft>
                <a:spcPts val="600"/>
              </a:spcAft>
            </a:pPr>
            <a:r>
              <a:rPr sz="1800">
                <a:solidFill>
                  <a:srgbClr val="1F2129"/>
                </a:solidFill>
                <a:latin typeface="Calibri"/>
              </a:rPr>
              <a:t>    -  Recency penalty if track was played recently</a:t>
            </a:r>
          </a:p>
          <a:p>
            <a:pPr algn="l">
              <a:spcAft>
                <a:spcPts val="600"/>
              </a:spcAft>
            </a:pPr>
            <a:r>
              <a:rPr sz="1800">
                <a:solidFill>
                  <a:srgbClr val="1F2129"/>
                </a:solidFill>
                <a:latin typeface="Calibri"/>
              </a:rPr>
              <a:t>FairnessRanker (graduate extension):</a:t>
            </a:r>
          </a:p>
          <a:p>
            <a:pPr algn="l">
              <a:spcAft>
                <a:spcPts val="600"/>
              </a:spcAft>
            </a:pPr>
            <a:r>
              <a:rPr sz="1800">
                <a:solidFill>
                  <a:srgbClr val="1F2129"/>
                </a:solidFill>
                <a:latin typeface="Calibri"/>
              </a:rPr>
              <a:t>    -  Boost from quieter members' votes so they're not drowned out</a:t>
            </a:r>
          </a:p>
          <a:p>
            <a:pPr algn="l">
              <a:spcAft>
                <a:spcPts val="600"/>
              </a:spcAft>
            </a:pPr>
            <a:r>
              <a:rPr sz="1800">
                <a:solidFill>
                  <a:srgbClr val="1F2129"/>
                </a:solidFill>
                <a:latin typeface="Calibri"/>
              </a:rPr>
              <a:t>    -  Penalty for tracks already played in this session</a:t>
            </a:r>
          </a:p>
          <a:p>
            <a:pPr algn="l">
              <a:spcAft>
                <a:spcPts val="600"/>
              </a:spcAft>
            </a:pPr>
            <a:r>
              <a:rPr sz="1800">
                <a:solidFill>
                  <a:srgbClr val="1F2129"/>
                </a:solidFill>
                <a:latin typeface="Calibri"/>
              </a:rPr>
              <a:t>    -  Every re-rank ships with the factor it won on (UX 'why?' panel)</a:t>
            </a:r>
          </a:p>
          <a:p>
            <a:pPr algn="l">
              <a:spcAft>
                <a:spcPts val="600"/>
              </a:spcAft>
            </a:pPr>
            <a:r>
              <a:rPr sz="1800">
                <a:solidFill>
                  <a:srgbClr val="1F2129"/>
                </a:solidFill>
                <a:latin typeface="Calibri"/>
              </a:rPr>
              <a:t>Tests: track_recommender_test.dart + fairness_ranker_test.dart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Tests, bug log, and the submission bundle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Supports the rubric's Functionality &amp; Testing slice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1691640"/>
            <a:ext cx="11183112" cy="6299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 flutter test</a:t>
            </a:r>
          </a:p>
          <a:p>
            <a:pPr algn="l">
              <a:spcAft>
                <a:spcPts val="0"/>
              </a:spcAft>
            </a:pPr>
            <a:r>
              <a:rPr sz="1300">
                <a:solidFill>
                  <a:srgbClr val="1F2129"/>
                </a:solidFill>
                <a:latin typeface="Consolas"/>
              </a:rPr>
              <a:t>00:05 +62: All tests passed!</a:t>
            </a:r>
          </a:p>
        </p:txBody>
      </p:sp>
      <p:sp>
        <p:nvSpPr>
          <p:cNvPr id="8" name="TextBox 7"/>
          <p:cNvSpPr txBox="1"/>
          <p:nvPr/>
        </p:nvSpPr>
        <p:spPr>
          <a:xfrm>
            <a:off x="502920" y="2458720"/>
            <a:ext cx="11183112" cy="2476500"/>
          </a:xfrm>
          <a:prstGeom prst="rect">
            <a:avLst/>
          </a:prstGeom>
          <a:noFill/>
        </p:spPr>
        <p:txBody>
          <a:bodyPr wrap="square">
            <a:spAutoFit/>
          </a:bodyPr>
          <a:lstStyle/>
          <a:p>
            <a:pPr algn="l">
              <a:spcAft>
                <a:spcPts val="600"/>
              </a:spcAft>
            </a:pPr>
            <a:r>
              <a:rPr sz="1800">
                <a:solidFill>
                  <a:srgbClr val="1F2129"/>
                </a:solidFill>
                <a:latin typeface="Calibri"/>
              </a:rPr>
              <a:t>Nine test files: auth errors, chat, fairness, recommender, mood, queue, session, Spotify, theme</a:t>
            </a:r>
          </a:p>
          <a:p>
            <a:pPr algn="l">
              <a:spcAft>
                <a:spcPts val="600"/>
              </a:spcAft>
            </a:pPr>
            <a:r>
              <a:rPr sz="1800">
                <a:solidFill>
                  <a:srgbClr val="1F2129"/>
                </a:solidFill>
                <a:latin typeface="Calibri"/>
              </a:rPr>
              <a:t>submission/ ships:</a:t>
            </a:r>
          </a:p>
          <a:p>
            <a:pPr algn="l">
              <a:spcAft>
                <a:spcPts val="600"/>
              </a:spcAft>
            </a:pPr>
            <a:r>
              <a:rPr sz="1800">
                <a:solidFill>
                  <a:srgbClr val="1F2129"/>
                </a:solidFill>
                <a:latin typeface="Calibri"/>
              </a:rPr>
              <a:t>    -  BUG_LOG.md             (six bugs, root-cause format)</a:t>
            </a:r>
          </a:p>
          <a:p>
            <a:pPr algn="l">
              <a:spcAft>
                <a:spcPts val="600"/>
              </a:spcAft>
            </a:pPr>
            <a:r>
              <a:rPr sz="1800">
                <a:solidFill>
                  <a:srgbClr val="1F2129"/>
                </a:solidFill>
                <a:latin typeface="Calibri"/>
              </a:rPr>
              <a:t>    -  CURATED_QUESTIONS.md   (14 selected questions, full answers + cited code)</a:t>
            </a:r>
          </a:p>
          <a:p>
            <a:pPr algn="l">
              <a:spcAft>
                <a:spcPts val="600"/>
              </a:spcAft>
            </a:pPr>
            <a:r>
              <a:rPr sz="1800">
                <a:solidFill>
                  <a:srgbClr val="1F2129"/>
                </a:solidFill>
                <a:latin typeface="Calibri"/>
              </a:rPr>
              <a:t>    -  Curated_Questions.docx (the rubric's questions-only doc)</a:t>
            </a:r>
          </a:p>
          <a:p>
            <a:pPr algn="l">
              <a:spcAft>
                <a:spcPts val="600"/>
              </a:spcAft>
            </a:pPr>
            <a:r>
              <a:rPr sz="1800">
                <a:solidFill>
                  <a:srgbClr val="1F2129"/>
                </a:solidFill>
                <a:latin typeface="Calibri"/>
              </a:rPr>
              <a:t>    -  screenshots/           (baseline + capture guide for slide-ready shots)</a:t>
            </a:r>
          </a:p>
          <a:p>
            <a:pPr algn="l">
              <a:spcAft>
                <a:spcPts val="600"/>
              </a:spcAft>
            </a:pPr>
            <a:r>
              <a:rPr sz="1800">
                <a:solidFill>
                  <a:srgbClr val="1F2129"/>
                </a:solidFill>
                <a:latin typeface="Calibri"/>
              </a:rPr>
              <a:t>    -  Vibzcheck-1.0.0-release.apk  (signed, 50.5 MB, sideload-ready)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If I restarted tomorrow</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Supports Q14  -  Reflection</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146300"/>
          </a:xfrm>
          <a:prstGeom prst="rect">
            <a:avLst/>
          </a:prstGeom>
          <a:noFill/>
        </p:spPr>
        <p:txBody>
          <a:bodyPr wrap="square">
            <a:spAutoFit/>
          </a:bodyPr>
          <a:lstStyle/>
          <a:p>
            <a:pPr algn="l">
              <a:spcAft>
                <a:spcPts val="600"/>
              </a:spcAft>
            </a:pPr>
            <a:r>
              <a:rPr sz="1800">
                <a:solidFill>
                  <a:srgbClr val="1F2129"/>
                </a:solidFill>
                <a:latin typeface="Calibri"/>
              </a:rPr>
              <a:t>1.  Bring firebase emulator-suite into the repo from day one</a:t>
            </a:r>
          </a:p>
          <a:p>
            <a:pPr algn="l">
              <a:spcAft>
                <a:spcPts val="600"/>
              </a:spcAft>
            </a:pPr>
            <a:r>
              <a:rPr sz="1800">
                <a:solidFill>
                  <a:srgbClr val="1F2129"/>
                </a:solidFill>
                <a:latin typeface="Calibri"/>
              </a:rPr>
              <a:t>        -  security rule changes get unit-tested instead of caught at runtime</a:t>
            </a:r>
          </a:p>
          <a:p>
            <a:pPr algn="l">
              <a:spcAft>
                <a:spcPts val="600"/>
              </a:spcAft>
            </a:pPr>
            <a:r>
              <a:rPr sz="1800">
                <a:solidFill>
                  <a:srgbClr val="1F2129"/>
                </a:solidFill>
                <a:latin typeface="Calibri"/>
              </a:rPr>
              <a:t>2.  Route every mutation through Cloud Functions (Admin SDK)</a:t>
            </a:r>
          </a:p>
          <a:p>
            <a:pPr algn="l">
              <a:spcAft>
                <a:spcPts val="600"/>
              </a:spcAft>
            </a:pPr>
            <a:r>
              <a:rPr sz="1800">
                <a:solidFill>
                  <a:srgbClr val="1F2129"/>
                </a:solidFill>
                <a:latin typeface="Calibri"/>
              </a:rPr>
              <a:t>        -  client-side write rules collapse to 'never'</a:t>
            </a:r>
          </a:p>
          <a:p>
            <a:pPr algn="l">
              <a:spcAft>
                <a:spcPts val="600"/>
              </a:spcAft>
            </a:pPr>
            <a:r>
              <a:rPr sz="1800">
                <a:solidFill>
                  <a:srgbClr val="1F2129"/>
                </a:solidFill>
                <a:latin typeface="Calibri"/>
              </a:rPr>
              <a:t>        -  rule file becomes a handful of read-only allows</a:t>
            </a:r>
          </a:p>
          <a:p>
            <a:pPr algn="l">
              <a:spcAft>
                <a:spcPts val="600"/>
              </a:spcAft>
            </a:pPr>
            <a:r>
              <a:rPr sz="1800">
                <a:solidFill>
                  <a:srgbClr val="1F2129"/>
                </a:solidFill>
                <a:latin typeface="Calibri"/>
              </a:rPr>
              <a:t>        -  blast radius for any future schema mistake is much smaller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Thank you</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Questions?</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1485900"/>
          </a:xfrm>
          <a:prstGeom prst="rect">
            <a:avLst/>
          </a:prstGeom>
          <a:noFill/>
        </p:spPr>
        <p:txBody>
          <a:bodyPr wrap="square">
            <a:spAutoFit/>
          </a:bodyPr>
          <a:lstStyle/>
          <a:p>
            <a:pPr algn="l">
              <a:spcAft>
                <a:spcPts val="600"/>
              </a:spcAft>
            </a:pPr>
            <a:r>
              <a:rPr sz="1800">
                <a:solidFill>
                  <a:srgbClr val="1F2129"/>
                </a:solidFill>
                <a:latin typeface="Calibri"/>
              </a:rPr>
              <a:t>Repo:  github.com/Tmaku18/vibzcheck-project2</a:t>
            </a:r>
          </a:p>
          <a:p>
            <a:pPr algn="l">
              <a:spcAft>
                <a:spcPts val="600"/>
              </a:spcAft>
            </a:pPr>
            <a:r>
              <a:rPr sz="1800">
                <a:solidFill>
                  <a:srgbClr val="1F2129"/>
                </a:solidFill>
                <a:latin typeface="Calibri"/>
              </a:rPr>
              <a:t>APK:   submission/Vibzcheck-1.0.0-release.apk</a:t>
            </a:r>
          </a:p>
          <a:p>
            <a:pPr algn="l">
              <a:spcAft>
                <a:spcPts val="600"/>
              </a:spcAft>
            </a:pPr>
            <a:r>
              <a:rPr sz="1800">
                <a:solidFill>
                  <a:srgbClr val="1F2129"/>
                </a:solidFill>
                <a:latin typeface="Calibri"/>
              </a:rPr>
              <a:t>Q&amp;A pack: submission/CURATED_QUESTIONS.md</a:t>
            </a:r>
          </a:p>
          <a:p>
            <a:pPr algn="l">
              <a:spcAft>
                <a:spcPts val="600"/>
              </a:spcAft>
            </a:pPr>
            <a:r>
              <a:rPr sz="1800">
                <a:solidFill>
                  <a:srgbClr val="1F2129"/>
                </a:solidFill>
                <a:latin typeface="Calibri"/>
              </a:rPr>
              <a:t>All five required Firebase services live, transparent AI, graduate fairness ranking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